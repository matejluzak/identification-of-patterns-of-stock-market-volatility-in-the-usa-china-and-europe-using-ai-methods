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40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5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8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27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61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16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14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9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 dirty="0"/>
              <a:t>Kliknutím na ikonu pridáte obrázok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08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88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8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4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0EEC76-6C04-7DBD-4B82-F7DAFC7F1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2377613"/>
          </a:xfrm>
        </p:spPr>
        <p:txBody>
          <a:bodyPr>
            <a:noAutofit/>
          </a:bodyPr>
          <a:lstStyle/>
          <a:p>
            <a:pPr algn="ctr"/>
            <a:r>
              <a:rPr lang="sk-SK" sz="3200" b="1" dirty="0"/>
              <a:t>Identifikácia vzorov v časových radoch pre komparáciu volatility akciových trhov USA, Číny a Európy pomocou metód umelej inteligencie</a:t>
            </a:r>
            <a:endParaRPr lang="sk-SK" sz="32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3B7FBB1-1C45-89A4-1990-BB3A6B5BF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3597215"/>
            <a:ext cx="11036808" cy="2441277"/>
          </a:xfrm>
        </p:spPr>
        <p:txBody>
          <a:bodyPr>
            <a:normAutofit/>
          </a:bodyPr>
          <a:lstStyle/>
          <a:p>
            <a:pPr algn="ctr"/>
            <a:endParaRPr lang="sk-SK" sz="2000" dirty="0"/>
          </a:p>
          <a:p>
            <a:pPr algn="ctr"/>
            <a:r>
              <a:rPr lang="en-US" sz="2000" dirty="0"/>
              <a:t>Koncept dizert</a:t>
            </a:r>
            <a:r>
              <a:rPr lang="sk-SK" sz="2000" dirty="0"/>
              <a:t>ačnej práce</a:t>
            </a:r>
          </a:p>
          <a:p>
            <a:r>
              <a:rPr lang="sk-SK" sz="2000" b="1" dirty="0"/>
              <a:t>doc. PaeDr. </a:t>
            </a:r>
            <a:r>
              <a:rPr lang="sk-SK" sz="2000" dirty="0"/>
              <a:t>Martin Magdin, </a:t>
            </a:r>
            <a:r>
              <a:rPr lang="sk-SK" sz="2000" b="1" dirty="0"/>
              <a:t>PhD.</a:t>
            </a:r>
            <a:r>
              <a:rPr lang="sk-SK" sz="2000" dirty="0"/>
              <a:t>                                                                  </a:t>
            </a:r>
            <a:r>
              <a:rPr lang="sk-SK" sz="2000" b="1" dirty="0"/>
              <a:t>Mgr. </a:t>
            </a:r>
            <a:r>
              <a:rPr lang="sk-SK" sz="2000" dirty="0"/>
              <a:t>Matej Lužák, </a:t>
            </a:r>
            <a:r>
              <a:rPr lang="sk-SK" sz="2000" b="1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122261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6FDF28-A91D-1565-DF7F-6B6CFE45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Ciele práce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D7C4D48-130B-F613-8F28-033289735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86000"/>
            <a:ext cx="10168128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1800" b="1" dirty="0"/>
              <a:t>Hlavný cieľ</a:t>
            </a:r>
          </a:p>
          <a:p>
            <a:r>
              <a:rPr lang="sk-SK" sz="1800" dirty="0"/>
              <a:t>Analyzovať a porovnať volatilitu akciových trhov v USA, Číne a Európe v období pred pandémiou COVID-19, počas nej a v post-covidovom období s využitím metód umelej inteligencie na identifikáciu vzorov v časových radoch. </a:t>
            </a:r>
          </a:p>
          <a:p>
            <a:pPr marL="0" indent="0">
              <a:buNone/>
            </a:pPr>
            <a:r>
              <a:rPr lang="sk-SK" sz="1800" b="1" dirty="0"/>
              <a:t>Čiastkové ciele</a:t>
            </a:r>
          </a:p>
          <a:p>
            <a:r>
              <a:rPr lang="sk-SK" sz="1800" dirty="0"/>
              <a:t>Získať vhodné časové rady akciových trhov USA, Európy a Číny,</a:t>
            </a:r>
          </a:p>
          <a:p>
            <a:r>
              <a:rPr lang="sk-SK" sz="1800" dirty="0"/>
              <a:t>Predspracovať získané časové rady,</a:t>
            </a:r>
          </a:p>
          <a:p>
            <a:r>
              <a:rPr lang="sk-SK" sz="1800" dirty="0"/>
              <a:t>Zvoliť vhodné metódy na predikciu volatility,</a:t>
            </a:r>
          </a:p>
          <a:p>
            <a:r>
              <a:rPr lang="sk-SK" sz="1800" dirty="0"/>
              <a:t>Natrénovať ekonometrické modely a modely strojového učenia,</a:t>
            </a:r>
          </a:p>
          <a:p>
            <a:r>
              <a:rPr lang="sk-SK" sz="1800" dirty="0"/>
              <a:t>Vyhodnotiť dosiahnuté výsledky.</a:t>
            </a:r>
          </a:p>
        </p:txBody>
      </p:sp>
    </p:spTree>
    <p:extLst>
      <p:ext uri="{BB962C8B-B14F-4D97-AF65-F5344CB8AC3E}">
        <p14:creationId xmlns:p14="http://schemas.microsoft.com/office/powerpoint/2010/main" val="140798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69CCF5-1DBC-D64F-A418-E0D3525A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Hypotézy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299E122-982E-024E-9B3B-050AE20DA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sz="1800" b="1" dirty="0"/>
              <a:t>H1: </a:t>
            </a:r>
            <a:r>
              <a:rPr lang="sk-SK" sz="1800" dirty="0"/>
              <a:t>Obdobie pandémie COVID-19 viedlo k štatisticky významnému zvýšeniu volatility vybraných akciových indexov USA, Európy a Číny.</a:t>
            </a:r>
          </a:p>
          <a:p>
            <a:r>
              <a:rPr lang="sk-SK" sz="1800" b="1" dirty="0"/>
              <a:t>H2: </a:t>
            </a:r>
            <a:r>
              <a:rPr lang="sk-SK" sz="1800" dirty="0"/>
              <a:t>Dynamika volatility sa medzi vybranými trhmi USA, Európy a Číny štatisticky významne líši.</a:t>
            </a:r>
          </a:p>
          <a:p>
            <a:r>
              <a:rPr lang="sk-SK" sz="1800" b="1" dirty="0"/>
              <a:t>H3: </a:t>
            </a:r>
            <a:r>
              <a:rPr lang="sk-SK" sz="1800" dirty="0"/>
              <a:t>Asymetrické modely volatility dosahujú lepšiu výkonnosť počas krízových období ako symetrické modely volatility.</a:t>
            </a:r>
          </a:p>
          <a:p>
            <a:r>
              <a:rPr lang="sk-SK" sz="1800" b="1" dirty="0"/>
              <a:t>H4: </a:t>
            </a:r>
            <a:r>
              <a:rPr lang="sk-SK" sz="1800" dirty="0"/>
              <a:t>Metódy strojového a hlbokého učenia nemajú štatisticky významne vyššiu predikčnú výkonnosť ako vybrané ekonometrické modely volatility.</a:t>
            </a:r>
          </a:p>
          <a:p>
            <a:r>
              <a:rPr lang="sk-SK" sz="1800" b="1" dirty="0"/>
              <a:t>H5: </a:t>
            </a:r>
            <a:r>
              <a:rPr lang="sk-SK" sz="1800" dirty="0"/>
              <a:t>Identifikované vzory volatility akciových trhov sa pri použití porovnateľných zdrojov dát štatisticky významne nemenia.</a:t>
            </a:r>
          </a:p>
        </p:txBody>
      </p:sp>
    </p:spTree>
    <p:extLst>
      <p:ext uri="{BB962C8B-B14F-4D97-AF65-F5344CB8AC3E}">
        <p14:creationId xmlns:p14="http://schemas.microsoft.com/office/powerpoint/2010/main" val="108725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10AEA6-20C5-7F84-4661-BE5DBE2A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Očakávané prínosy práce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207072-0098-DFCC-2110-537C30EE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284421"/>
          </a:xfrm>
        </p:spPr>
        <p:txBody>
          <a:bodyPr/>
          <a:lstStyle/>
          <a:p>
            <a:r>
              <a:rPr lang="sk-SK" sz="1800" dirty="0"/>
              <a:t>Empirické porovnanie modelov strojového učenia s ekonometrickými riešeniami,</a:t>
            </a:r>
          </a:p>
          <a:p>
            <a:r>
              <a:rPr lang="sk-SK" sz="1800" dirty="0"/>
              <a:t>Praktické poznatky o správaní akciových trhov počas období so zvýšeným rizikom </a:t>
            </a:r>
            <a:r>
              <a:rPr lang="en-GB" sz="1800" dirty="0"/>
              <a:t>(COVID-19)</a:t>
            </a:r>
            <a:r>
              <a:rPr lang="sk-SK" sz="1800" dirty="0"/>
              <a:t>,</a:t>
            </a:r>
          </a:p>
          <a:p>
            <a:r>
              <a:rPr lang="sk-SK" sz="1800" dirty="0"/>
              <a:t>Komparatívna analýza volatility akciových trhov USA, Európy a Číny,</a:t>
            </a:r>
          </a:p>
          <a:p>
            <a:r>
              <a:rPr lang="sk-SK" sz="1800" dirty="0"/>
              <a:t>Identifikácia faktorov, ktoré vplývajú na dynamiku volatility,</a:t>
            </a:r>
          </a:p>
          <a:p>
            <a:r>
              <a:rPr lang="sk-SK" sz="1800" dirty="0"/>
              <a:t>Definícia metodiky pre identifikáciu vzorov v časových radoch akciových trhov s dôrazom na metódy umelej inteligencie,</a:t>
            </a:r>
          </a:p>
          <a:p>
            <a:r>
              <a:rPr lang="sk-SK" sz="1800" dirty="0"/>
              <a:t>Poznatky o robustnosti definovanej metodiky vzhľadom na zdroj dát akciových indexov.</a:t>
            </a:r>
          </a:p>
        </p:txBody>
      </p:sp>
    </p:spTree>
    <p:extLst>
      <p:ext uri="{BB962C8B-B14F-4D97-AF65-F5344CB8AC3E}">
        <p14:creationId xmlns:p14="http://schemas.microsoft.com/office/powerpoint/2010/main" val="217035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213164-1120-5EEF-A30F-A0EBF54F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Návrh metodológie výskumu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57EBD8-C4CD-26FC-663A-384167972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 sz="1800" b="1" dirty="0"/>
              <a:t>Príprava dát</a:t>
            </a:r>
          </a:p>
          <a:p>
            <a:r>
              <a:rPr lang="sk-SK" sz="1800" dirty="0"/>
              <a:t>Získanie a predspracovanie dát,</a:t>
            </a:r>
          </a:p>
          <a:p>
            <a:pPr marL="0" indent="0">
              <a:buNone/>
            </a:pPr>
            <a:r>
              <a:rPr lang="sk-SK" sz="1800" b="1" dirty="0"/>
              <a:t>Modelovanie</a:t>
            </a:r>
          </a:p>
          <a:p>
            <a:r>
              <a:rPr lang="sk-SK" sz="1800" dirty="0"/>
              <a:t>Ekonometrické modely volatility,</a:t>
            </a:r>
          </a:p>
          <a:p>
            <a:r>
              <a:rPr lang="sk-SK" sz="1800" dirty="0"/>
              <a:t>Modely strojového učenia,</a:t>
            </a:r>
          </a:p>
          <a:p>
            <a:pPr marL="0" indent="0">
              <a:buNone/>
            </a:pPr>
            <a:r>
              <a:rPr lang="sk-SK" sz="1800" b="1" dirty="0"/>
              <a:t>Testovanie</a:t>
            </a:r>
          </a:p>
          <a:p>
            <a:r>
              <a:rPr lang="sk-SK" sz="1800" dirty="0"/>
              <a:t>Vyhodnotenie a porovnanie výsledkov odlišných zdrojov dát</a:t>
            </a:r>
          </a:p>
          <a:p>
            <a:pPr marL="0" indent="0">
              <a:buNone/>
            </a:pPr>
            <a:endParaRPr lang="sk-SK" sz="1800" dirty="0"/>
          </a:p>
        </p:txBody>
      </p:sp>
    </p:spTree>
    <p:extLst>
      <p:ext uri="{BB962C8B-B14F-4D97-AF65-F5344CB8AC3E}">
        <p14:creationId xmlns:p14="http://schemas.microsoft.com/office/powerpoint/2010/main" val="228102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EE83F7-64F3-383A-80FF-8676C5FE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Získanie a predspracovanie dát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9626B19-36B6-D1C9-00B6-4B1AC05E7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 sz="1900" b="1" dirty="0"/>
              <a:t>Zdroje dát</a:t>
            </a:r>
          </a:p>
          <a:p>
            <a:r>
              <a:rPr lang="sk-SK" sz="1800" dirty="0"/>
              <a:t>Stooq.pl a Yahoo </a:t>
            </a:r>
            <a:r>
              <a:rPr lang="sk-SK" sz="1800" dirty="0" err="1"/>
              <a:t>Finance</a:t>
            </a:r>
            <a:endParaRPr lang="sk-SK" sz="1800" dirty="0"/>
          </a:p>
          <a:p>
            <a:pPr marL="0" indent="0">
              <a:buNone/>
            </a:pPr>
            <a:r>
              <a:rPr lang="sk-SK" sz="1800" b="1" dirty="0"/>
              <a:t>Vybrané akciové indexy</a:t>
            </a:r>
          </a:p>
          <a:p>
            <a:r>
              <a:rPr lang="sk-SK" sz="1800" dirty="0"/>
              <a:t>S</a:t>
            </a:r>
            <a:r>
              <a:rPr lang="en-GB" sz="1800" dirty="0"/>
              <a:t>&amp;P </a:t>
            </a:r>
            <a:r>
              <a:rPr lang="sk-SK" sz="1800" dirty="0"/>
              <a:t>500, Nemecký DAX, SSE </a:t>
            </a:r>
            <a:r>
              <a:rPr lang="sk-SK" sz="1800" dirty="0" err="1"/>
              <a:t>Composite</a:t>
            </a:r>
            <a:endParaRPr lang="sk-SK" sz="1800" dirty="0"/>
          </a:p>
          <a:p>
            <a:pPr marL="0" indent="0">
              <a:buNone/>
            </a:pPr>
            <a:r>
              <a:rPr lang="sk-SK" sz="1800" b="1" dirty="0"/>
              <a:t>Rozdelenie dát</a:t>
            </a:r>
          </a:p>
          <a:p>
            <a:pPr lvl="0"/>
            <a:r>
              <a:rPr lang="sk-SK" sz="1800" dirty="0"/>
              <a:t>Obdobie pred pandémiou (2016-2019),</a:t>
            </a:r>
          </a:p>
          <a:p>
            <a:pPr lvl="0"/>
            <a:r>
              <a:rPr lang="sk-SK" sz="1800" dirty="0"/>
              <a:t>Obdobie COVID-19 (2020-2022),</a:t>
            </a:r>
          </a:p>
          <a:p>
            <a:pPr lvl="0"/>
            <a:r>
              <a:rPr lang="sk-SK" sz="1800" dirty="0" err="1"/>
              <a:t>Postpandemické</a:t>
            </a:r>
            <a:r>
              <a:rPr lang="sk-SK" sz="1800" dirty="0"/>
              <a:t> obdobie (2023-2026).</a:t>
            </a:r>
          </a:p>
          <a:p>
            <a:endParaRPr lang="sk-SK" sz="1900" dirty="0"/>
          </a:p>
          <a:p>
            <a:pPr marL="0" indent="0">
              <a:buNone/>
            </a:pPr>
            <a:endParaRPr lang="sk-SK" sz="1800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E856B261-0408-EC85-F891-513298EDF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570" y="3305182"/>
            <a:ext cx="5001323" cy="1943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3FA578DD-26C9-26FC-9385-A2FFADA90708}"/>
              </a:ext>
            </a:extLst>
          </p:cNvPr>
          <p:cNvSpPr txBox="1"/>
          <p:nvPr/>
        </p:nvSpPr>
        <p:spPr>
          <a:xfrm>
            <a:off x="6546570" y="2935850"/>
            <a:ext cx="4451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Nemecký DAX Stooq.pl</a:t>
            </a:r>
          </a:p>
        </p:txBody>
      </p:sp>
    </p:spTree>
    <p:extLst>
      <p:ext uri="{BB962C8B-B14F-4D97-AF65-F5344CB8AC3E}">
        <p14:creationId xmlns:p14="http://schemas.microsoft.com/office/powerpoint/2010/main" val="244234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5E400A-AACB-763D-21C1-5E373FA7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7493ED-6217-122B-0465-474AD139C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k-SK" sz="1800" b="1" dirty="0"/>
              <a:t>Ekonometrické modely volatility</a:t>
            </a:r>
          </a:p>
          <a:p>
            <a:r>
              <a:rPr lang="sk-SK" sz="1800" dirty="0"/>
              <a:t>GARCH </a:t>
            </a:r>
            <a:r>
              <a:rPr lang="en-GB" sz="1800" dirty="0"/>
              <a:t>(1,1)</a:t>
            </a:r>
          </a:p>
          <a:p>
            <a:r>
              <a:rPr lang="en-GB" sz="1800" dirty="0"/>
              <a:t>GJR-GARCH</a:t>
            </a:r>
          </a:p>
          <a:p>
            <a:r>
              <a:rPr lang="sk-SK" sz="1800" dirty="0"/>
              <a:t>Asymetrický </a:t>
            </a:r>
            <a:r>
              <a:rPr lang="en-GB" sz="1800" dirty="0"/>
              <a:t>HAR</a:t>
            </a:r>
            <a:r>
              <a:rPr lang="sk-SK" sz="1800"/>
              <a:t> model</a:t>
            </a:r>
            <a:endParaRPr lang="sk-SK" sz="1800" dirty="0"/>
          </a:p>
          <a:p>
            <a:pPr marL="0" indent="0">
              <a:buNone/>
            </a:pPr>
            <a:r>
              <a:rPr lang="sk-SK" sz="1800" b="1" dirty="0"/>
              <a:t>Modely strojového učenia</a:t>
            </a:r>
          </a:p>
          <a:p>
            <a:r>
              <a:rPr lang="en-GB" sz="1800" dirty="0" err="1"/>
              <a:t>XGBoost</a:t>
            </a:r>
            <a:r>
              <a:rPr lang="en-GB" sz="1800" dirty="0"/>
              <a:t>,</a:t>
            </a:r>
          </a:p>
          <a:p>
            <a:r>
              <a:rPr lang="en-GB" sz="1800" dirty="0"/>
              <a:t>LSTM</a:t>
            </a:r>
            <a:r>
              <a:rPr lang="sk-SK" sz="1800" dirty="0"/>
              <a:t>.</a:t>
            </a:r>
          </a:p>
          <a:p>
            <a:pPr marL="0" indent="0">
              <a:buNone/>
            </a:pPr>
            <a:r>
              <a:rPr lang="sk-SK" sz="1800" b="1" dirty="0"/>
              <a:t>Trénovanie</a:t>
            </a:r>
          </a:p>
          <a:p>
            <a:r>
              <a:rPr lang="sk-SK" sz="1800" dirty="0" err="1"/>
              <a:t>Rolling-window</a:t>
            </a:r>
            <a:r>
              <a:rPr lang="sk-SK" sz="1800" dirty="0"/>
              <a:t> prístup</a:t>
            </a:r>
          </a:p>
          <a:p>
            <a:endParaRPr lang="sk-SK" sz="1800" dirty="0"/>
          </a:p>
        </p:txBody>
      </p:sp>
    </p:spTree>
    <p:extLst>
      <p:ext uri="{BB962C8B-B14F-4D97-AF65-F5344CB8AC3E}">
        <p14:creationId xmlns:p14="http://schemas.microsoft.com/office/powerpoint/2010/main" val="115786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317A53-DDDD-3907-2C30-AD0DDB920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Vyhodnotenie výsledkov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5D8F990-BE82-27A7-BC5E-2C3A5A01D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 sz="1800" b="1" dirty="0"/>
              <a:t>Testovanie</a:t>
            </a:r>
          </a:p>
          <a:p>
            <a:r>
              <a:rPr lang="sk-SK" sz="1800" dirty="0"/>
              <a:t>Metriky RMSE a QLIKE,</a:t>
            </a:r>
          </a:p>
          <a:p>
            <a:r>
              <a:rPr lang="sk-SK" sz="1800" dirty="0"/>
              <a:t>Porovnanie výsledkov Stooq.pl a Yahoo </a:t>
            </a:r>
            <a:r>
              <a:rPr lang="sk-SK" sz="1800" dirty="0" err="1"/>
              <a:t>Finance</a:t>
            </a:r>
            <a:r>
              <a:rPr lang="sk-SK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722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DC40-1B9C-EF0C-7017-A509948C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C20C6E-B821-876F-7644-9262D463D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386903"/>
          </a:xfrm>
        </p:spPr>
        <p:txBody>
          <a:bodyPr>
            <a:noAutofit/>
          </a:bodyPr>
          <a:lstStyle/>
          <a:p>
            <a:pPr algn="ctr"/>
            <a:r>
              <a:rPr lang="sk-SK" sz="4400" b="1" dirty="0"/>
              <a:t>Ďakujem za pozornosť</a:t>
            </a:r>
            <a:endParaRPr lang="sk-SK" sz="4400" dirty="0"/>
          </a:p>
        </p:txBody>
      </p:sp>
    </p:spTree>
    <p:extLst>
      <p:ext uri="{BB962C8B-B14F-4D97-AF65-F5344CB8AC3E}">
        <p14:creationId xmlns:p14="http://schemas.microsoft.com/office/powerpoint/2010/main" val="415561293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Zvýrazňujúce pole</Template>
  <TotalTime>309</TotalTime>
  <Words>399</Words>
  <Application>Microsoft Office PowerPoint</Application>
  <PresentationFormat>Širokouhlá</PresentationFormat>
  <Paragraphs>59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AccentBoxVTI</vt:lpstr>
      <vt:lpstr>Identifikácia vzorov v časových radoch pre komparáciu volatility akciových trhov USA, Číny a Európy pomocou metód umelej inteligencie</vt:lpstr>
      <vt:lpstr>Ciele práce</vt:lpstr>
      <vt:lpstr>Hypotézy</vt:lpstr>
      <vt:lpstr>Očakávané prínosy práce</vt:lpstr>
      <vt:lpstr>Návrh metodológie výskumu</vt:lpstr>
      <vt:lpstr>Získanie a predspracovanie dát</vt:lpstr>
      <vt:lpstr>Modelovanie</vt:lpstr>
      <vt:lpstr>Vyhodnotenie výsledkov</vt:lpstr>
      <vt:lpstr>Ďakujem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 Lužák</dc:creator>
  <cp:lastModifiedBy>Matej Lužák</cp:lastModifiedBy>
  <cp:revision>16</cp:revision>
  <dcterms:created xsi:type="dcterms:W3CDTF">2026-06-01T16:03:27Z</dcterms:created>
  <dcterms:modified xsi:type="dcterms:W3CDTF">2026-06-02T13:37:51Z</dcterms:modified>
</cp:coreProperties>
</file>