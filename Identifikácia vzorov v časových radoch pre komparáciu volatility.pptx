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58" r:id="rId3"/>
    <p:sldId id="257" r:id="rId4"/>
    <p:sldId id="259" r:id="rId5"/>
    <p:sldId id="260" r:id="rId6"/>
    <p:sldId id="261" r:id="rId7"/>
    <p:sldId id="262" r:id="rId8"/>
    <p:sldId id="264"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A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1753" autoAdjust="0"/>
  </p:normalViewPr>
  <p:slideViewPr>
    <p:cSldViewPr snapToGrid="0">
      <p:cViewPr varScale="1">
        <p:scale>
          <a:sx n="107" d="100"/>
          <a:sy n="107" d="100"/>
        </p:scale>
        <p:origin x="69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65338B-645B-41AE-983D-65FFD2CDBEFF}" type="doc">
      <dgm:prSet loTypeId="urn:microsoft.com/office/officeart/2005/8/layout/hProcess4" loCatId="process" qsTypeId="urn:microsoft.com/office/officeart/2005/8/quickstyle/simple1" qsCatId="simple" csTypeId="urn:microsoft.com/office/officeart/2005/8/colors/accent1_2" csCatId="accent1" phldr="1"/>
      <dgm:spPr/>
      <dgm:t>
        <a:bodyPr/>
        <a:lstStyle/>
        <a:p>
          <a:endParaRPr lang="sk-SK"/>
        </a:p>
      </dgm:t>
    </dgm:pt>
    <dgm:pt modelId="{D6FB274B-FC90-4E83-AEF4-3C4FAD353500}">
      <dgm:prSet phldrT="[Text]" phldr="0" custT="1"/>
      <dgm:spPr/>
      <dgm:t>
        <a:bodyPr/>
        <a:lstStyle/>
        <a:p>
          <a:r>
            <a:rPr lang="sk-SK" sz="2000" b="1" dirty="0">
              <a:effectLst>
                <a:outerShdw blurRad="38100" dist="38100" dir="2700000" algn="tl">
                  <a:srgbClr val="000000">
                    <a:alpha val="43137"/>
                  </a:srgbClr>
                </a:outerShdw>
              </a:effectLst>
            </a:rPr>
            <a:t>Dáta</a:t>
          </a:r>
        </a:p>
      </dgm:t>
    </dgm:pt>
    <dgm:pt modelId="{5A19F18F-4921-423D-81BF-A1FD0D5AC97B}" type="parTrans" cxnId="{A76D05C4-A12A-4B98-9194-3F92D8D6E43A}">
      <dgm:prSet/>
      <dgm:spPr/>
      <dgm:t>
        <a:bodyPr/>
        <a:lstStyle/>
        <a:p>
          <a:endParaRPr lang="sk-SK"/>
        </a:p>
      </dgm:t>
    </dgm:pt>
    <dgm:pt modelId="{8B704CD4-C4A3-4CA8-9E6D-3F5A58FB5A6E}" type="sibTrans" cxnId="{A76D05C4-A12A-4B98-9194-3F92D8D6E43A}">
      <dgm:prSet/>
      <dgm:spPr/>
      <dgm:t>
        <a:bodyPr/>
        <a:lstStyle/>
        <a:p>
          <a:endParaRPr lang="sk-SK"/>
        </a:p>
      </dgm:t>
    </dgm:pt>
    <dgm:pt modelId="{8D030EC8-A772-4D56-8F07-0AE23381547A}">
      <dgm:prSet phldrT="[Text]" phldr="0" custT="1"/>
      <dgm:spPr/>
      <dgm:t>
        <a:bodyPr/>
        <a:lstStyle/>
        <a:p>
          <a:pPr>
            <a:lnSpc>
              <a:spcPct val="100000"/>
            </a:lnSpc>
          </a:pPr>
          <a:r>
            <a:rPr lang="sk-SK" sz="1400" dirty="0"/>
            <a:t>Denné ceny akcií</a:t>
          </a:r>
        </a:p>
      </dgm:t>
    </dgm:pt>
    <dgm:pt modelId="{56A50F41-90CC-4204-BD46-5BCD743A617F}" type="parTrans" cxnId="{1A5E9831-AA81-46C6-A3CF-EE502DBFA388}">
      <dgm:prSet/>
      <dgm:spPr/>
      <dgm:t>
        <a:bodyPr/>
        <a:lstStyle/>
        <a:p>
          <a:endParaRPr lang="sk-SK"/>
        </a:p>
      </dgm:t>
    </dgm:pt>
    <dgm:pt modelId="{DFF0C2CB-6DE0-4245-BB0D-46B347A9190B}" type="sibTrans" cxnId="{1A5E9831-AA81-46C6-A3CF-EE502DBFA388}">
      <dgm:prSet/>
      <dgm:spPr/>
      <dgm:t>
        <a:bodyPr/>
        <a:lstStyle/>
        <a:p>
          <a:endParaRPr lang="sk-SK"/>
        </a:p>
      </dgm:t>
    </dgm:pt>
    <dgm:pt modelId="{0B006AC3-28C8-4288-AFED-91FA3D0A00F9}">
      <dgm:prSet phldrT="[Text]" phldr="0" custT="1"/>
      <dgm:spPr/>
      <dgm:t>
        <a:bodyPr/>
        <a:lstStyle/>
        <a:p>
          <a:pPr>
            <a:lnSpc>
              <a:spcPct val="100000"/>
            </a:lnSpc>
          </a:pPr>
          <a:r>
            <a:rPr lang="sk-SK" sz="1400" dirty="0" err="1"/>
            <a:t>Exploračná</a:t>
          </a:r>
          <a:r>
            <a:rPr lang="sk-SK" sz="1400" dirty="0"/>
            <a:t> analýza</a:t>
          </a:r>
        </a:p>
      </dgm:t>
    </dgm:pt>
    <dgm:pt modelId="{3666285E-AE42-426B-A018-E0BA7E841619}" type="parTrans" cxnId="{3CB867B9-6F43-4AB6-9530-DB6C5EF59301}">
      <dgm:prSet/>
      <dgm:spPr/>
      <dgm:t>
        <a:bodyPr/>
        <a:lstStyle/>
        <a:p>
          <a:endParaRPr lang="sk-SK"/>
        </a:p>
      </dgm:t>
    </dgm:pt>
    <dgm:pt modelId="{80AA56DF-E813-4B21-A7F1-6FEC4A8ABA5B}" type="sibTrans" cxnId="{3CB867B9-6F43-4AB6-9530-DB6C5EF59301}">
      <dgm:prSet/>
      <dgm:spPr/>
      <dgm:t>
        <a:bodyPr/>
        <a:lstStyle/>
        <a:p>
          <a:endParaRPr lang="sk-SK"/>
        </a:p>
      </dgm:t>
    </dgm:pt>
    <dgm:pt modelId="{2207399F-F7A9-4246-825E-CB2F59081A8E}">
      <dgm:prSet phldrT="[Text]" phldr="0" custT="1"/>
      <dgm:spPr/>
      <dgm:t>
        <a:bodyPr/>
        <a:lstStyle/>
        <a:p>
          <a:r>
            <a:rPr lang="sk-SK" sz="2000" b="1" dirty="0">
              <a:effectLst>
                <a:outerShdw blurRad="38100" dist="38100" dir="2700000" algn="tl">
                  <a:srgbClr val="000000">
                    <a:alpha val="43137"/>
                  </a:srgbClr>
                </a:outerShdw>
              </a:effectLst>
            </a:rPr>
            <a:t>Volatilita</a:t>
          </a:r>
        </a:p>
      </dgm:t>
    </dgm:pt>
    <dgm:pt modelId="{0BBDA673-1136-4713-8084-109E95915A75}" type="parTrans" cxnId="{E51FFEC5-0C48-4BFD-9DD2-0E5F0D9F9B63}">
      <dgm:prSet/>
      <dgm:spPr/>
      <dgm:t>
        <a:bodyPr/>
        <a:lstStyle/>
        <a:p>
          <a:endParaRPr lang="sk-SK"/>
        </a:p>
      </dgm:t>
    </dgm:pt>
    <dgm:pt modelId="{4151D506-449B-4309-95E1-51332BF9EED7}" type="sibTrans" cxnId="{E51FFEC5-0C48-4BFD-9DD2-0E5F0D9F9B63}">
      <dgm:prSet/>
      <dgm:spPr/>
      <dgm:t>
        <a:bodyPr/>
        <a:lstStyle/>
        <a:p>
          <a:endParaRPr lang="sk-SK">
            <a:solidFill>
              <a:schemeClr val="tx1"/>
            </a:solidFill>
          </a:endParaRPr>
        </a:p>
      </dgm:t>
    </dgm:pt>
    <dgm:pt modelId="{3ED2CA7C-8CF3-4C7D-B586-70BE48490C21}">
      <dgm:prSet phldrT="[Text]" phldr="0" custT="1"/>
      <dgm:spPr/>
      <dgm:t>
        <a:bodyPr/>
        <a:lstStyle/>
        <a:p>
          <a:pPr>
            <a:lnSpc>
              <a:spcPct val="100000"/>
            </a:lnSpc>
          </a:pPr>
          <a:r>
            <a:rPr lang="sk-SK" sz="1400" dirty="0"/>
            <a:t>Log výnosy</a:t>
          </a:r>
        </a:p>
      </dgm:t>
    </dgm:pt>
    <dgm:pt modelId="{30A02569-3B28-4898-83E1-9F52CF2D5DF7}" type="parTrans" cxnId="{BEB58F67-6203-4934-ACB6-24E5DE29A637}">
      <dgm:prSet/>
      <dgm:spPr/>
      <dgm:t>
        <a:bodyPr/>
        <a:lstStyle/>
        <a:p>
          <a:endParaRPr lang="sk-SK"/>
        </a:p>
      </dgm:t>
    </dgm:pt>
    <dgm:pt modelId="{65491649-8A43-4755-8BC5-745B3DE7A686}" type="sibTrans" cxnId="{BEB58F67-6203-4934-ACB6-24E5DE29A637}">
      <dgm:prSet/>
      <dgm:spPr/>
      <dgm:t>
        <a:bodyPr/>
        <a:lstStyle/>
        <a:p>
          <a:endParaRPr lang="sk-SK"/>
        </a:p>
      </dgm:t>
    </dgm:pt>
    <dgm:pt modelId="{9979E402-2F88-436A-8282-66EF53786664}">
      <dgm:prSet phldrT="[Text]" phldr="0" custT="1"/>
      <dgm:spPr/>
      <dgm:t>
        <a:bodyPr/>
        <a:lstStyle/>
        <a:p>
          <a:r>
            <a:rPr lang="sk-SK" sz="2000" b="1" dirty="0">
              <a:effectLst>
                <a:outerShdw blurRad="38100" dist="38100" dir="2700000" algn="tl">
                  <a:srgbClr val="000000">
                    <a:alpha val="43137"/>
                  </a:srgbClr>
                </a:outerShdw>
              </a:effectLst>
            </a:rPr>
            <a:t>Modely</a:t>
          </a:r>
        </a:p>
      </dgm:t>
    </dgm:pt>
    <dgm:pt modelId="{FB82CA8F-FAAE-4338-B42D-411B71A393D0}" type="parTrans" cxnId="{2D59BF9B-C353-4A4E-B246-09D813F235CA}">
      <dgm:prSet/>
      <dgm:spPr/>
      <dgm:t>
        <a:bodyPr/>
        <a:lstStyle/>
        <a:p>
          <a:endParaRPr lang="sk-SK"/>
        </a:p>
      </dgm:t>
    </dgm:pt>
    <dgm:pt modelId="{9847EFBA-07E4-4A28-9C1A-E7667B923BB5}" type="sibTrans" cxnId="{2D59BF9B-C353-4A4E-B246-09D813F235CA}">
      <dgm:prSet/>
      <dgm:spPr/>
      <dgm:t>
        <a:bodyPr/>
        <a:lstStyle/>
        <a:p>
          <a:endParaRPr lang="sk-SK"/>
        </a:p>
      </dgm:t>
    </dgm:pt>
    <dgm:pt modelId="{5A9B94D9-D4F7-4D1D-B7A5-E4EBAEBE5076}">
      <dgm:prSet phldrT="[Text]" phldr="0" custT="1"/>
      <dgm:spPr/>
      <dgm:t>
        <a:bodyPr/>
        <a:lstStyle/>
        <a:p>
          <a:pPr>
            <a:lnSpc>
              <a:spcPct val="100000"/>
            </a:lnSpc>
          </a:pPr>
          <a:r>
            <a:rPr lang="sk-SK" sz="1400" dirty="0"/>
            <a:t>GARCH</a:t>
          </a:r>
        </a:p>
      </dgm:t>
    </dgm:pt>
    <dgm:pt modelId="{BAD23372-F2AF-4BF7-A979-8D9FAEE57D3A}" type="parTrans" cxnId="{3E119E09-AE81-48A6-B93C-6FD844523A68}">
      <dgm:prSet/>
      <dgm:spPr/>
      <dgm:t>
        <a:bodyPr/>
        <a:lstStyle/>
        <a:p>
          <a:endParaRPr lang="sk-SK"/>
        </a:p>
      </dgm:t>
    </dgm:pt>
    <dgm:pt modelId="{8F05E88D-BAF4-44CE-AB90-79A6305EB9DD}" type="sibTrans" cxnId="{3E119E09-AE81-48A6-B93C-6FD844523A68}">
      <dgm:prSet/>
      <dgm:spPr/>
      <dgm:t>
        <a:bodyPr/>
        <a:lstStyle/>
        <a:p>
          <a:endParaRPr lang="sk-SK"/>
        </a:p>
      </dgm:t>
    </dgm:pt>
    <dgm:pt modelId="{4EF5B21F-0522-4B37-85D6-CEB430CCB426}">
      <dgm:prSet phldrT="[Text]" phldr="0" custT="1"/>
      <dgm:spPr/>
      <dgm:t>
        <a:bodyPr/>
        <a:lstStyle/>
        <a:p>
          <a:r>
            <a:rPr lang="sk-SK" sz="2000" b="1" dirty="0">
              <a:effectLst>
                <a:outerShdw blurRad="38100" dist="38100" dir="2700000" algn="tl">
                  <a:srgbClr val="000000">
                    <a:alpha val="43137"/>
                  </a:srgbClr>
                </a:outerShdw>
              </a:effectLst>
            </a:rPr>
            <a:t>Validácia</a:t>
          </a:r>
        </a:p>
      </dgm:t>
    </dgm:pt>
    <dgm:pt modelId="{06D2B8CE-436D-4AFF-82EB-8E83CF98C990}" type="parTrans" cxnId="{A70050AC-16C3-4796-B1D0-E0E254CCE140}">
      <dgm:prSet/>
      <dgm:spPr/>
      <dgm:t>
        <a:bodyPr/>
        <a:lstStyle/>
        <a:p>
          <a:endParaRPr lang="sk-SK"/>
        </a:p>
      </dgm:t>
    </dgm:pt>
    <dgm:pt modelId="{8AE8FF60-82A8-45AF-820F-8DF44D12B158}" type="sibTrans" cxnId="{A70050AC-16C3-4796-B1D0-E0E254CCE140}">
      <dgm:prSet/>
      <dgm:spPr/>
      <dgm:t>
        <a:bodyPr/>
        <a:lstStyle/>
        <a:p>
          <a:endParaRPr lang="sk-SK"/>
        </a:p>
      </dgm:t>
    </dgm:pt>
    <dgm:pt modelId="{C29477DB-93CB-41C5-979C-064DF5F4039B}">
      <dgm:prSet phldrT="[Text]" phldr="0" custT="1"/>
      <dgm:spPr/>
      <dgm:t>
        <a:bodyPr/>
        <a:lstStyle/>
        <a:p>
          <a:r>
            <a:rPr lang="sk-SK" sz="2000" b="1" dirty="0">
              <a:effectLst>
                <a:outerShdw blurRad="38100" dist="38100" dir="2700000" algn="tl">
                  <a:srgbClr val="000000">
                    <a:alpha val="43137"/>
                  </a:srgbClr>
                </a:outerShdw>
              </a:effectLst>
            </a:rPr>
            <a:t>Výsledky</a:t>
          </a:r>
        </a:p>
      </dgm:t>
    </dgm:pt>
    <dgm:pt modelId="{146D272C-43EF-4C36-BDDC-49E2C0F2BD02}" type="parTrans" cxnId="{92BD74CD-A52D-439A-B938-51B066954595}">
      <dgm:prSet/>
      <dgm:spPr/>
      <dgm:t>
        <a:bodyPr/>
        <a:lstStyle/>
        <a:p>
          <a:endParaRPr lang="sk-SK"/>
        </a:p>
      </dgm:t>
    </dgm:pt>
    <dgm:pt modelId="{D3BF079C-D04F-4E30-9314-BE8D4456213A}" type="sibTrans" cxnId="{92BD74CD-A52D-439A-B938-51B066954595}">
      <dgm:prSet/>
      <dgm:spPr/>
      <dgm:t>
        <a:bodyPr/>
        <a:lstStyle/>
        <a:p>
          <a:endParaRPr lang="sk-SK"/>
        </a:p>
      </dgm:t>
    </dgm:pt>
    <dgm:pt modelId="{39031FE6-9489-43E5-BCCE-9368A5102F41}">
      <dgm:prSet phldrT="[Text]" phldr="0" custT="1"/>
      <dgm:spPr/>
      <dgm:t>
        <a:bodyPr/>
        <a:lstStyle/>
        <a:p>
          <a:pPr>
            <a:lnSpc>
              <a:spcPct val="100000"/>
            </a:lnSpc>
          </a:pPr>
          <a:r>
            <a:rPr lang="sk-SK" sz="1400" dirty="0"/>
            <a:t>Časové obdobia</a:t>
          </a:r>
        </a:p>
      </dgm:t>
    </dgm:pt>
    <dgm:pt modelId="{8B494894-2007-4090-BB37-185754316FE5}" type="parTrans" cxnId="{CA233CC6-92B2-4A88-BEFC-46B83D41E595}">
      <dgm:prSet/>
      <dgm:spPr/>
      <dgm:t>
        <a:bodyPr/>
        <a:lstStyle/>
        <a:p>
          <a:endParaRPr lang="sk-SK"/>
        </a:p>
      </dgm:t>
    </dgm:pt>
    <dgm:pt modelId="{894F75BD-961D-4E6E-8B14-1223A8001890}" type="sibTrans" cxnId="{CA233CC6-92B2-4A88-BEFC-46B83D41E595}">
      <dgm:prSet/>
      <dgm:spPr/>
      <dgm:t>
        <a:bodyPr/>
        <a:lstStyle/>
        <a:p>
          <a:endParaRPr lang="sk-SK"/>
        </a:p>
      </dgm:t>
    </dgm:pt>
    <dgm:pt modelId="{73AD1036-9A58-4EFE-A690-768795CB6028}">
      <dgm:prSet phldrT="[Text]" phldr="0" custT="1"/>
      <dgm:spPr/>
      <dgm:t>
        <a:bodyPr/>
        <a:lstStyle/>
        <a:p>
          <a:pPr>
            <a:lnSpc>
              <a:spcPct val="100000"/>
            </a:lnSpc>
          </a:pPr>
          <a:r>
            <a:rPr lang="sk-SK" sz="1400" dirty="0"/>
            <a:t>HAR</a:t>
          </a:r>
        </a:p>
      </dgm:t>
    </dgm:pt>
    <dgm:pt modelId="{D74B432F-AB74-4B64-BFA2-E32BDA98B222}" type="parTrans" cxnId="{EF930D35-4B86-4E80-85DC-7B6BC7AA9496}">
      <dgm:prSet/>
      <dgm:spPr/>
      <dgm:t>
        <a:bodyPr/>
        <a:lstStyle/>
        <a:p>
          <a:endParaRPr lang="sk-SK"/>
        </a:p>
      </dgm:t>
    </dgm:pt>
    <dgm:pt modelId="{408C3476-FF68-4201-93EA-3E782D733A5A}" type="sibTrans" cxnId="{EF930D35-4B86-4E80-85DC-7B6BC7AA9496}">
      <dgm:prSet/>
      <dgm:spPr/>
      <dgm:t>
        <a:bodyPr/>
        <a:lstStyle/>
        <a:p>
          <a:endParaRPr lang="sk-SK"/>
        </a:p>
      </dgm:t>
    </dgm:pt>
    <dgm:pt modelId="{59B08BBC-3ABB-47D1-B928-7D3326411A7C}">
      <dgm:prSet custT="1"/>
      <dgm:spPr/>
      <dgm:t>
        <a:bodyPr/>
        <a:lstStyle/>
        <a:p>
          <a:pPr>
            <a:lnSpc>
              <a:spcPct val="100000"/>
            </a:lnSpc>
          </a:pPr>
          <a:r>
            <a:rPr lang="sk-SK" sz="1400" dirty="0"/>
            <a:t>Vzory volatility</a:t>
          </a:r>
        </a:p>
      </dgm:t>
    </dgm:pt>
    <dgm:pt modelId="{2C89C11F-FB48-4895-93A6-508BD31F9034}" type="parTrans" cxnId="{BEB0FA00-7C37-44D2-B600-06F603EFB63E}">
      <dgm:prSet/>
      <dgm:spPr/>
      <dgm:t>
        <a:bodyPr/>
        <a:lstStyle/>
        <a:p>
          <a:endParaRPr lang="sk-SK"/>
        </a:p>
      </dgm:t>
    </dgm:pt>
    <dgm:pt modelId="{9AFCCB99-882E-467A-B078-5718C2E7C25F}" type="sibTrans" cxnId="{BEB0FA00-7C37-44D2-B600-06F603EFB63E}">
      <dgm:prSet/>
      <dgm:spPr/>
      <dgm:t>
        <a:bodyPr/>
        <a:lstStyle/>
        <a:p>
          <a:endParaRPr lang="sk-SK"/>
        </a:p>
      </dgm:t>
    </dgm:pt>
    <dgm:pt modelId="{DE3AD505-65C0-49B0-BBA3-107F8FE3DB83}">
      <dgm:prSet custT="1"/>
      <dgm:spPr/>
      <dgm:t>
        <a:bodyPr/>
        <a:lstStyle/>
        <a:p>
          <a:pPr>
            <a:lnSpc>
              <a:spcPct val="100000"/>
            </a:lnSpc>
          </a:pPr>
          <a:r>
            <a:rPr lang="sk-SK" sz="1400" dirty="0"/>
            <a:t>RMSE, QLIKE</a:t>
          </a:r>
        </a:p>
      </dgm:t>
    </dgm:pt>
    <dgm:pt modelId="{3FB8894D-9D06-4462-954B-2CE4DB8E1B44}" type="parTrans" cxnId="{83FA1876-1988-4AA7-8772-424EBC865BEE}">
      <dgm:prSet/>
      <dgm:spPr/>
      <dgm:t>
        <a:bodyPr/>
        <a:lstStyle/>
        <a:p>
          <a:endParaRPr lang="sk-SK"/>
        </a:p>
      </dgm:t>
    </dgm:pt>
    <dgm:pt modelId="{A4CBCBDC-32A9-4FEC-88AF-47A54C5CE209}" type="sibTrans" cxnId="{83FA1876-1988-4AA7-8772-424EBC865BEE}">
      <dgm:prSet/>
      <dgm:spPr/>
      <dgm:t>
        <a:bodyPr/>
        <a:lstStyle/>
        <a:p>
          <a:endParaRPr lang="sk-SK"/>
        </a:p>
      </dgm:t>
    </dgm:pt>
    <dgm:pt modelId="{A3A0FADB-9E1C-46FA-9954-1A7B414B35B9}">
      <dgm:prSet custT="1"/>
      <dgm:spPr/>
      <dgm:t>
        <a:bodyPr/>
        <a:lstStyle/>
        <a:p>
          <a:pPr>
            <a:lnSpc>
              <a:spcPct val="100000"/>
            </a:lnSpc>
          </a:pPr>
          <a:r>
            <a:rPr lang="sk-SK" sz="1400" dirty="0" err="1"/>
            <a:t>Rolling-Window</a:t>
          </a:r>
          <a:endParaRPr lang="sk-SK" sz="1400" dirty="0"/>
        </a:p>
      </dgm:t>
    </dgm:pt>
    <dgm:pt modelId="{38FAC2C9-419E-4EF5-879C-35B6091251F6}" type="parTrans" cxnId="{47FFA8C6-5991-4EDA-8402-967CDCF06D51}">
      <dgm:prSet/>
      <dgm:spPr/>
      <dgm:t>
        <a:bodyPr/>
        <a:lstStyle/>
        <a:p>
          <a:endParaRPr lang="sk-SK"/>
        </a:p>
      </dgm:t>
    </dgm:pt>
    <dgm:pt modelId="{F5341326-D575-46DC-A6B0-BD344AD6EE25}" type="sibTrans" cxnId="{47FFA8C6-5991-4EDA-8402-967CDCF06D51}">
      <dgm:prSet/>
      <dgm:spPr/>
      <dgm:t>
        <a:bodyPr/>
        <a:lstStyle/>
        <a:p>
          <a:endParaRPr lang="sk-SK"/>
        </a:p>
      </dgm:t>
    </dgm:pt>
    <dgm:pt modelId="{9AACA625-023E-4357-97C3-04906BC41DD8}">
      <dgm:prSet custT="1"/>
      <dgm:spPr/>
      <dgm:t>
        <a:bodyPr/>
        <a:lstStyle/>
        <a:p>
          <a:pPr>
            <a:lnSpc>
              <a:spcPct val="100000"/>
            </a:lnSpc>
          </a:pPr>
          <a:r>
            <a:rPr lang="sk-SK" sz="1400" dirty="0"/>
            <a:t>Komparácia trhov a modelov</a:t>
          </a:r>
        </a:p>
      </dgm:t>
    </dgm:pt>
    <dgm:pt modelId="{0AB24F2C-DCB6-41E0-8CF4-8B7B503E0D35}" type="parTrans" cxnId="{23328F69-7A3A-4E22-9E08-42F9C489C67F}">
      <dgm:prSet/>
      <dgm:spPr/>
      <dgm:t>
        <a:bodyPr/>
        <a:lstStyle/>
        <a:p>
          <a:endParaRPr lang="sk-SK"/>
        </a:p>
      </dgm:t>
    </dgm:pt>
    <dgm:pt modelId="{9615B57A-14EC-4E34-ACAE-C271D4D87DE9}" type="sibTrans" cxnId="{23328F69-7A3A-4E22-9E08-42F9C489C67F}">
      <dgm:prSet/>
      <dgm:spPr/>
      <dgm:t>
        <a:bodyPr/>
        <a:lstStyle/>
        <a:p>
          <a:endParaRPr lang="sk-SK"/>
        </a:p>
      </dgm:t>
    </dgm:pt>
    <dgm:pt modelId="{609221ED-82FD-45D9-955E-69D98C9F9837}">
      <dgm:prSet phldrT="[Text]" phldr="0" custT="1"/>
      <dgm:spPr/>
      <dgm:t>
        <a:bodyPr/>
        <a:lstStyle/>
        <a:p>
          <a:pPr>
            <a:lnSpc>
              <a:spcPct val="100000"/>
            </a:lnSpc>
          </a:pPr>
          <a:r>
            <a:rPr lang="sk-SK" sz="1400" dirty="0" err="1"/>
            <a:t>XGBoost</a:t>
          </a:r>
          <a:endParaRPr lang="sk-SK" sz="1400" dirty="0"/>
        </a:p>
      </dgm:t>
    </dgm:pt>
    <dgm:pt modelId="{BC69F0BB-FCAC-4C59-BC95-502914E9680A}" type="parTrans" cxnId="{D0AFD104-1A21-452A-888C-07DCF849C062}">
      <dgm:prSet/>
      <dgm:spPr/>
      <dgm:t>
        <a:bodyPr/>
        <a:lstStyle/>
        <a:p>
          <a:endParaRPr lang="sk-SK"/>
        </a:p>
      </dgm:t>
    </dgm:pt>
    <dgm:pt modelId="{55DEE8FD-EB0C-48ED-A831-58C09E216282}" type="sibTrans" cxnId="{D0AFD104-1A21-452A-888C-07DCF849C062}">
      <dgm:prSet/>
      <dgm:spPr/>
      <dgm:t>
        <a:bodyPr/>
        <a:lstStyle/>
        <a:p>
          <a:endParaRPr lang="sk-SK"/>
        </a:p>
      </dgm:t>
    </dgm:pt>
    <dgm:pt modelId="{1B2331C3-4ED8-496E-B08D-D0298EC66B33}">
      <dgm:prSet phldrT="[Text]" phldr="0" custT="1"/>
      <dgm:spPr/>
      <dgm:t>
        <a:bodyPr/>
        <a:lstStyle/>
        <a:p>
          <a:pPr>
            <a:lnSpc>
              <a:spcPct val="100000"/>
            </a:lnSpc>
          </a:pPr>
          <a:r>
            <a:rPr lang="sk-SK" sz="1400" dirty="0"/>
            <a:t>LSTM</a:t>
          </a:r>
        </a:p>
      </dgm:t>
    </dgm:pt>
    <dgm:pt modelId="{AC82ECB6-EA97-4655-832A-F7DBD845A327}" type="parTrans" cxnId="{485B4FA8-4B7A-41EE-805A-0A7F9B58C05F}">
      <dgm:prSet/>
      <dgm:spPr/>
      <dgm:t>
        <a:bodyPr/>
        <a:lstStyle/>
        <a:p>
          <a:endParaRPr lang="sk-SK"/>
        </a:p>
      </dgm:t>
    </dgm:pt>
    <dgm:pt modelId="{DF074269-6B53-4585-A81D-788C397101BD}" type="sibTrans" cxnId="{485B4FA8-4B7A-41EE-805A-0A7F9B58C05F}">
      <dgm:prSet/>
      <dgm:spPr/>
      <dgm:t>
        <a:bodyPr/>
        <a:lstStyle/>
        <a:p>
          <a:endParaRPr lang="sk-SK"/>
        </a:p>
      </dgm:t>
    </dgm:pt>
    <dgm:pt modelId="{0988CE5C-27CF-4DBE-A10F-ED07BCA1B13B}" type="pres">
      <dgm:prSet presAssocID="{B665338B-645B-41AE-983D-65FFD2CDBEFF}" presName="Name0" presStyleCnt="0">
        <dgm:presLayoutVars>
          <dgm:dir/>
          <dgm:animLvl val="lvl"/>
          <dgm:resizeHandles val="exact"/>
        </dgm:presLayoutVars>
      </dgm:prSet>
      <dgm:spPr/>
    </dgm:pt>
    <dgm:pt modelId="{3B42B861-20D8-4D43-90F3-4BC0C7641FEA}" type="pres">
      <dgm:prSet presAssocID="{B665338B-645B-41AE-983D-65FFD2CDBEFF}" presName="tSp" presStyleCnt="0"/>
      <dgm:spPr/>
    </dgm:pt>
    <dgm:pt modelId="{130535EF-3ED6-4707-8CDF-434B62E24FB2}" type="pres">
      <dgm:prSet presAssocID="{B665338B-645B-41AE-983D-65FFD2CDBEFF}" presName="bSp" presStyleCnt="0"/>
      <dgm:spPr/>
    </dgm:pt>
    <dgm:pt modelId="{1B16AE6F-9C06-44DE-B7B3-443002962661}" type="pres">
      <dgm:prSet presAssocID="{B665338B-645B-41AE-983D-65FFD2CDBEFF}" presName="process" presStyleCnt="0"/>
      <dgm:spPr/>
    </dgm:pt>
    <dgm:pt modelId="{47783FFD-6B7A-4B16-8B2D-C7BCF1A62BEB}" type="pres">
      <dgm:prSet presAssocID="{D6FB274B-FC90-4E83-AEF4-3C4FAD353500}" presName="composite1" presStyleCnt="0"/>
      <dgm:spPr/>
    </dgm:pt>
    <dgm:pt modelId="{DA10E415-6204-420F-80BD-B31B53E13273}" type="pres">
      <dgm:prSet presAssocID="{D6FB274B-FC90-4E83-AEF4-3C4FAD353500}" presName="dummyNode1" presStyleLbl="node1" presStyleIdx="0" presStyleCnt="5"/>
      <dgm:spPr/>
    </dgm:pt>
    <dgm:pt modelId="{7B6A1E41-DCFE-4AC5-8D88-041D7A647606}" type="pres">
      <dgm:prSet presAssocID="{D6FB274B-FC90-4E83-AEF4-3C4FAD353500}" presName="childNode1" presStyleLbl="bgAcc1" presStyleIdx="0" presStyleCnt="5">
        <dgm:presLayoutVars>
          <dgm:bulletEnabled val="1"/>
        </dgm:presLayoutVars>
      </dgm:prSet>
      <dgm:spPr/>
    </dgm:pt>
    <dgm:pt modelId="{B6E2E50B-E13E-4164-8844-C48D2241F28F}" type="pres">
      <dgm:prSet presAssocID="{D6FB274B-FC90-4E83-AEF4-3C4FAD353500}" presName="childNode1tx" presStyleLbl="bgAcc1" presStyleIdx="0" presStyleCnt="5">
        <dgm:presLayoutVars>
          <dgm:bulletEnabled val="1"/>
        </dgm:presLayoutVars>
      </dgm:prSet>
      <dgm:spPr/>
    </dgm:pt>
    <dgm:pt modelId="{B490D780-DC4A-4D63-9BE5-4D77B5D5EE7D}" type="pres">
      <dgm:prSet presAssocID="{D6FB274B-FC90-4E83-AEF4-3C4FAD353500}" presName="parentNode1" presStyleLbl="node1" presStyleIdx="0" presStyleCnt="5">
        <dgm:presLayoutVars>
          <dgm:chMax val="1"/>
          <dgm:bulletEnabled val="1"/>
        </dgm:presLayoutVars>
      </dgm:prSet>
      <dgm:spPr/>
    </dgm:pt>
    <dgm:pt modelId="{87DD02B4-7C99-44ED-82C9-CCF60F0E4156}" type="pres">
      <dgm:prSet presAssocID="{D6FB274B-FC90-4E83-AEF4-3C4FAD353500}" presName="connSite1" presStyleCnt="0"/>
      <dgm:spPr/>
    </dgm:pt>
    <dgm:pt modelId="{850FA6B7-9A4F-4AA5-BDED-68AE9D7593C5}" type="pres">
      <dgm:prSet presAssocID="{8B704CD4-C4A3-4CA8-9E6D-3F5A58FB5A6E}" presName="Name9" presStyleLbl="sibTrans2D1" presStyleIdx="0" presStyleCnt="4" custLinFactNeighborX="-3189" custLinFactNeighborY="-12755"/>
      <dgm:spPr/>
    </dgm:pt>
    <dgm:pt modelId="{0328E4F2-55DB-49EF-9802-C730AABD0081}" type="pres">
      <dgm:prSet presAssocID="{2207399F-F7A9-4246-825E-CB2F59081A8E}" presName="composite2" presStyleCnt="0"/>
      <dgm:spPr/>
    </dgm:pt>
    <dgm:pt modelId="{AD0988AB-4656-45BA-92AB-034657C4B796}" type="pres">
      <dgm:prSet presAssocID="{2207399F-F7A9-4246-825E-CB2F59081A8E}" presName="dummyNode2" presStyleLbl="node1" presStyleIdx="0" presStyleCnt="5"/>
      <dgm:spPr/>
    </dgm:pt>
    <dgm:pt modelId="{46A5BD50-A357-43EB-900E-7628F4E860EB}" type="pres">
      <dgm:prSet presAssocID="{2207399F-F7A9-4246-825E-CB2F59081A8E}" presName="childNode2" presStyleLbl="bgAcc1" presStyleIdx="1" presStyleCnt="5">
        <dgm:presLayoutVars>
          <dgm:bulletEnabled val="1"/>
        </dgm:presLayoutVars>
      </dgm:prSet>
      <dgm:spPr/>
    </dgm:pt>
    <dgm:pt modelId="{0F7E9FD4-6D4A-4F6B-86E7-3179B41C32BE}" type="pres">
      <dgm:prSet presAssocID="{2207399F-F7A9-4246-825E-CB2F59081A8E}" presName="childNode2tx" presStyleLbl="bgAcc1" presStyleIdx="1" presStyleCnt="5">
        <dgm:presLayoutVars>
          <dgm:bulletEnabled val="1"/>
        </dgm:presLayoutVars>
      </dgm:prSet>
      <dgm:spPr/>
    </dgm:pt>
    <dgm:pt modelId="{DDA911AB-DE02-438A-8E06-1357C3CEF326}" type="pres">
      <dgm:prSet presAssocID="{2207399F-F7A9-4246-825E-CB2F59081A8E}" presName="parentNode2" presStyleLbl="node1" presStyleIdx="1" presStyleCnt="5">
        <dgm:presLayoutVars>
          <dgm:chMax val="0"/>
          <dgm:bulletEnabled val="1"/>
        </dgm:presLayoutVars>
      </dgm:prSet>
      <dgm:spPr/>
    </dgm:pt>
    <dgm:pt modelId="{7804C83F-F9D9-4951-9D31-12A35D659178}" type="pres">
      <dgm:prSet presAssocID="{2207399F-F7A9-4246-825E-CB2F59081A8E}" presName="connSite2" presStyleCnt="0"/>
      <dgm:spPr/>
    </dgm:pt>
    <dgm:pt modelId="{DB00C555-2EA1-4D87-A59D-2B8C4B0D5343}" type="pres">
      <dgm:prSet presAssocID="{4151D506-449B-4309-95E1-51332BF9EED7}" presName="Name18" presStyleLbl="sibTrans2D1" presStyleIdx="1" presStyleCnt="4" custLinFactNeighborX="-2841" custLinFactNeighborY="11000"/>
      <dgm:spPr/>
    </dgm:pt>
    <dgm:pt modelId="{2117CB8B-B23D-45D5-9E33-38B69A7745CD}" type="pres">
      <dgm:prSet presAssocID="{9979E402-2F88-436A-8282-66EF53786664}" presName="composite1" presStyleCnt="0"/>
      <dgm:spPr/>
    </dgm:pt>
    <dgm:pt modelId="{C0FF3479-16E6-49BC-A8B8-4C9F990843A7}" type="pres">
      <dgm:prSet presAssocID="{9979E402-2F88-436A-8282-66EF53786664}" presName="dummyNode1" presStyleLbl="node1" presStyleIdx="1" presStyleCnt="5"/>
      <dgm:spPr/>
    </dgm:pt>
    <dgm:pt modelId="{F19BD381-30C3-4201-B50A-E41684C9478F}" type="pres">
      <dgm:prSet presAssocID="{9979E402-2F88-436A-8282-66EF53786664}" presName="childNode1" presStyleLbl="bgAcc1" presStyleIdx="2" presStyleCnt="5">
        <dgm:presLayoutVars>
          <dgm:bulletEnabled val="1"/>
        </dgm:presLayoutVars>
      </dgm:prSet>
      <dgm:spPr/>
    </dgm:pt>
    <dgm:pt modelId="{2B0884EC-019C-489D-80AA-7566A7966A30}" type="pres">
      <dgm:prSet presAssocID="{9979E402-2F88-436A-8282-66EF53786664}" presName="childNode1tx" presStyleLbl="bgAcc1" presStyleIdx="2" presStyleCnt="5">
        <dgm:presLayoutVars>
          <dgm:bulletEnabled val="1"/>
        </dgm:presLayoutVars>
      </dgm:prSet>
      <dgm:spPr/>
    </dgm:pt>
    <dgm:pt modelId="{E878FD4D-12B7-458B-BC0F-B75BEB791108}" type="pres">
      <dgm:prSet presAssocID="{9979E402-2F88-436A-8282-66EF53786664}" presName="parentNode1" presStyleLbl="node1" presStyleIdx="2" presStyleCnt="5">
        <dgm:presLayoutVars>
          <dgm:chMax val="1"/>
          <dgm:bulletEnabled val="1"/>
        </dgm:presLayoutVars>
      </dgm:prSet>
      <dgm:spPr/>
    </dgm:pt>
    <dgm:pt modelId="{027CC7A2-E7F3-4B8D-9476-6FC0FC0D42B5}" type="pres">
      <dgm:prSet presAssocID="{9979E402-2F88-436A-8282-66EF53786664}" presName="connSite1" presStyleCnt="0"/>
      <dgm:spPr/>
    </dgm:pt>
    <dgm:pt modelId="{1578868B-2CAF-4820-BE2E-8D12F7F7A919}" type="pres">
      <dgm:prSet presAssocID="{9847EFBA-07E4-4A28-9C1A-E7667B923BB5}" presName="Name9" presStyleLbl="sibTrans2D1" presStyleIdx="2" presStyleCnt="4" custLinFactNeighborX="-4347" custLinFactNeighborY="-11388"/>
      <dgm:spPr/>
    </dgm:pt>
    <dgm:pt modelId="{578FD416-01AF-4BF7-8392-ADA912499F29}" type="pres">
      <dgm:prSet presAssocID="{4EF5B21F-0522-4B37-85D6-CEB430CCB426}" presName="composite2" presStyleCnt="0"/>
      <dgm:spPr/>
    </dgm:pt>
    <dgm:pt modelId="{7E780BE3-10E5-46D1-8004-1C601ECFD3D8}" type="pres">
      <dgm:prSet presAssocID="{4EF5B21F-0522-4B37-85D6-CEB430CCB426}" presName="dummyNode2" presStyleLbl="node1" presStyleIdx="2" presStyleCnt="5"/>
      <dgm:spPr/>
    </dgm:pt>
    <dgm:pt modelId="{F05C07F2-711F-4DDA-BF5D-F2D18D771FE6}" type="pres">
      <dgm:prSet presAssocID="{4EF5B21F-0522-4B37-85D6-CEB430CCB426}" presName="childNode2" presStyleLbl="bgAcc1" presStyleIdx="3" presStyleCnt="5">
        <dgm:presLayoutVars>
          <dgm:bulletEnabled val="1"/>
        </dgm:presLayoutVars>
      </dgm:prSet>
      <dgm:spPr/>
    </dgm:pt>
    <dgm:pt modelId="{D401E58F-260B-48C4-8ED1-6DB73FD4E661}" type="pres">
      <dgm:prSet presAssocID="{4EF5B21F-0522-4B37-85D6-CEB430CCB426}" presName="childNode2tx" presStyleLbl="bgAcc1" presStyleIdx="3" presStyleCnt="5">
        <dgm:presLayoutVars>
          <dgm:bulletEnabled val="1"/>
        </dgm:presLayoutVars>
      </dgm:prSet>
      <dgm:spPr/>
    </dgm:pt>
    <dgm:pt modelId="{3EA60A08-F209-4DFD-A8C0-33D58C80F67D}" type="pres">
      <dgm:prSet presAssocID="{4EF5B21F-0522-4B37-85D6-CEB430CCB426}" presName="parentNode2" presStyleLbl="node1" presStyleIdx="3" presStyleCnt="5">
        <dgm:presLayoutVars>
          <dgm:chMax val="0"/>
          <dgm:bulletEnabled val="1"/>
        </dgm:presLayoutVars>
      </dgm:prSet>
      <dgm:spPr/>
    </dgm:pt>
    <dgm:pt modelId="{7817C187-EDC9-4BDB-8E07-5816A8486ADC}" type="pres">
      <dgm:prSet presAssocID="{4EF5B21F-0522-4B37-85D6-CEB430CCB426}" presName="connSite2" presStyleCnt="0"/>
      <dgm:spPr/>
    </dgm:pt>
    <dgm:pt modelId="{6D128CA8-FD42-4C08-9436-4EB380FD44D3}" type="pres">
      <dgm:prSet presAssocID="{8AE8FF60-82A8-45AF-820F-8DF44D12B158}" presName="Name18" presStyleLbl="sibTrans2D1" presStyleIdx="3" presStyleCnt="4" custLinFactNeighborY="11000"/>
      <dgm:spPr/>
    </dgm:pt>
    <dgm:pt modelId="{838A943B-5AF7-470A-AED0-8ACF9C66754C}" type="pres">
      <dgm:prSet presAssocID="{C29477DB-93CB-41C5-979C-064DF5F4039B}" presName="composite1" presStyleCnt="0"/>
      <dgm:spPr/>
    </dgm:pt>
    <dgm:pt modelId="{30F6E697-57B1-4870-BFC9-533B32FBD49C}" type="pres">
      <dgm:prSet presAssocID="{C29477DB-93CB-41C5-979C-064DF5F4039B}" presName="dummyNode1" presStyleLbl="node1" presStyleIdx="3" presStyleCnt="5"/>
      <dgm:spPr/>
    </dgm:pt>
    <dgm:pt modelId="{ADB04D02-A97C-4659-BAB1-BFD732875B6F}" type="pres">
      <dgm:prSet presAssocID="{C29477DB-93CB-41C5-979C-064DF5F4039B}" presName="childNode1" presStyleLbl="bgAcc1" presStyleIdx="4" presStyleCnt="5">
        <dgm:presLayoutVars>
          <dgm:bulletEnabled val="1"/>
        </dgm:presLayoutVars>
      </dgm:prSet>
      <dgm:spPr/>
    </dgm:pt>
    <dgm:pt modelId="{7AE20833-C756-4510-9EF0-F24DE50F50DA}" type="pres">
      <dgm:prSet presAssocID="{C29477DB-93CB-41C5-979C-064DF5F4039B}" presName="childNode1tx" presStyleLbl="bgAcc1" presStyleIdx="4" presStyleCnt="5">
        <dgm:presLayoutVars>
          <dgm:bulletEnabled val="1"/>
        </dgm:presLayoutVars>
      </dgm:prSet>
      <dgm:spPr/>
    </dgm:pt>
    <dgm:pt modelId="{6B4282B9-062B-41C5-898A-A66339751090}" type="pres">
      <dgm:prSet presAssocID="{C29477DB-93CB-41C5-979C-064DF5F4039B}" presName="parentNode1" presStyleLbl="node1" presStyleIdx="4" presStyleCnt="5">
        <dgm:presLayoutVars>
          <dgm:chMax val="1"/>
          <dgm:bulletEnabled val="1"/>
        </dgm:presLayoutVars>
      </dgm:prSet>
      <dgm:spPr/>
    </dgm:pt>
    <dgm:pt modelId="{04B1D9E8-A2BC-4D6C-9BD0-5020C9F200A9}" type="pres">
      <dgm:prSet presAssocID="{C29477DB-93CB-41C5-979C-064DF5F4039B}" presName="connSite1" presStyleCnt="0"/>
      <dgm:spPr/>
    </dgm:pt>
  </dgm:ptLst>
  <dgm:cxnLst>
    <dgm:cxn modelId="{BEB0FA00-7C37-44D2-B600-06F603EFB63E}" srcId="{C29477DB-93CB-41C5-979C-064DF5F4039B}" destId="{59B08BBC-3ABB-47D1-B928-7D3326411A7C}" srcOrd="0" destOrd="0" parTransId="{2C89C11F-FB48-4895-93A6-508BD31F9034}" sibTransId="{9AFCCB99-882E-467A-B078-5718C2E7C25F}"/>
    <dgm:cxn modelId="{D0AFD104-1A21-452A-888C-07DCF849C062}" srcId="{9979E402-2F88-436A-8282-66EF53786664}" destId="{609221ED-82FD-45D9-955E-69D98C9F9837}" srcOrd="2" destOrd="0" parTransId="{BC69F0BB-FCAC-4C59-BC95-502914E9680A}" sibTransId="{55DEE8FD-EB0C-48ED-A831-58C09E216282}"/>
    <dgm:cxn modelId="{3E119E09-AE81-48A6-B93C-6FD844523A68}" srcId="{9979E402-2F88-436A-8282-66EF53786664}" destId="{5A9B94D9-D4F7-4D1D-B7A5-E4EBAEBE5076}" srcOrd="0" destOrd="0" parTransId="{BAD23372-F2AF-4BF7-A979-8D9FAEE57D3A}" sibTransId="{8F05E88D-BAF4-44CE-AB90-79A6305EB9DD}"/>
    <dgm:cxn modelId="{151BC30B-6B5C-4B5A-B48B-FB1C2DD6E0D0}" type="presOf" srcId="{8AE8FF60-82A8-45AF-820F-8DF44D12B158}" destId="{6D128CA8-FD42-4C08-9436-4EB380FD44D3}" srcOrd="0" destOrd="0" presId="urn:microsoft.com/office/officeart/2005/8/layout/hProcess4"/>
    <dgm:cxn modelId="{59015219-8354-4625-9EE6-748DEB87B1BC}" type="presOf" srcId="{2207399F-F7A9-4246-825E-CB2F59081A8E}" destId="{DDA911AB-DE02-438A-8E06-1357C3CEF326}" srcOrd="0" destOrd="0" presId="urn:microsoft.com/office/officeart/2005/8/layout/hProcess4"/>
    <dgm:cxn modelId="{77918120-EC1A-4440-B0B7-2F969F15DD73}" type="presOf" srcId="{9AACA625-023E-4357-97C3-04906BC41DD8}" destId="{7AE20833-C756-4510-9EF0-F24DE50F50DA}" srcOrd="1" destOrd="1" presId="urn:microsoft.com/office/officeart/2005/8/layout/hProcess4"/>
    <dgm:cxn modelId="{1A5E9831-AA81-46C6-A3CF-EE502DBFA388}" srcId="{D6FB274B-FC90-4E83-AEF4-3C4FAD353500}" destId="{8D030EC8-A772-4D56-8F07-0AE23381547A}" srcOrd="0" destOrd="0" parTransId="{56A50F41-90CC-4204-BD46-5BCD743A617F}" sibTransId="{DFF0C2CB-6DE0-4245-BB0D-46B347A9190B}"/>
    <dgm:cxn modelId="{EF930D35-4B86-4E80-85DC-7B6BC7AA9496}" srcId="{9979E402-2F88-436A-8282-66EF53786664}" destId="{73AD1036-9A58-4EFE-A690-768795CB6028}" srcOrd="1" destOrd="0" parTransId="{D74B432F-AB74-4B64-BFA2-E32BDA98B222}" sibTransId="{408C3476-FF68-4201-93EA-3E782D733A5A}"/>
    <dgm:cxn modelId="{5EA18F3F-8C95-4516-A78B-E998C72E980A}" type="presOf" srcId="{59B08BBC-3ABB-47D1-B928-7D3326411A7C}" destId="{ADB04D02-A97C-4659-BAB1-BFD732875B6F}" srcOrd="0" destOrd="0" presId="urn:microsoft.com/office/officeart/2005/8/layout/hProcess4"/>
    <dgm:cxn modelId="{2F37565F-A296-488B-93B3-B1A833772821}" type="presOf" srcId="{5A9B94D9-D4F7-4D1D-B7A5-E4EBAEBE5076}" destId="{F19BD381-30C3-4201-B50A-E41684C9478F}" srcOrd="0" destOrd="0" presId="urn:microsoft.com/office/officeart/2005/8/layout/hProcess4"/>
    <dgm:cxn modelId="{BEB58F67-6203-4934-ACB6-24E5DE29A637}" srcId="{2207399F-F7A9-4246-825E-CB2F59081A8E}" destId="{3ED2CA7C-8CF3-4C7D-B586-70BE48490C21}" srcOrd="0" destOrd="0" parTransId="{30A02569-3B28-4898-83E1-9F52CF2D5DF7}" sibTransId="{65491649-8A43-4755-8BC5-745B3DE7A686}"/>
    <dgm:cxn modelId="{23328F69-7A3A-4E22-9E08-42F9C489C67F}" srcId="{C29477DB-93CB-41C5-979C-064DF5F4039B}" destId="{9AACA625-023E-4357-97C3-04906BC41DD8}" srcOrd="1" destOrd="0" parTransId="{0AB24F2C-DCB6-41E0-8CF4-8B7B503E0D35}" sibTransId="{9615B57A-14EC-4E34-ACAE-C271D4D87DE9}"/>
    <dgm:cxn modelId="{DB8EAE6C-7106-45F1-BF84-82255282170A}" type="presOf" srcId="{1B2331C3-4ED8-496E-B08D-D0298EC66B33}" destId="{F19BD381-30C3-4201-B50A-E41684C9478F}" srcOrd="0" destOrd="3" presId="urn:microsoft.com/office/officeart/2005/8/layout/hProcess4"/>
    <dgm:cxn modelId="{3927694D-90AE-46FA-B247-C29555D5FA75}" type="presOf" srcId="{A3A0FADB-9E1C-46FA-9954-1A7B414B35B9}" destId="{F05C07F2-711F-4DDA-BF5D-F2D18D771FE6}" srcOrd="0" destOrd="1" presId="urn:microsoft.com/office/officeart/2005/8/layout/hProcess4"/>
    <dgm:cxn modelId="{51C7ED4E-AB7A-423F-9E83-8D36008285A4}" type="presOf" srcId="{8D030EC8-A772-4D56-8F07-0AE23381547A}" destId="{B6E2E50B-E13E-4164-8844-C48D2241F28F}" srcOrd="1" destOrd="0" presId="urn:microsoft.com/office/officeart/2005/8/layout/hProcess4"/>
    <dgm:cxn modelId="{8583DF4F-4093-4EB7-BC34-9DEF845ECFD0}" type="presOf" srcId="{0B006AC3-28C8-4288-AFED-91FA3D0A00F9}" destId="{7B6A1E41-DCFE-4AC5-8D88-041D7A647606}" srcOrd="0" destOrd="1" presId="urn:microsoft.com/office/officeart/2005/8/layout/hProcess4"/>
    <dgm:cxn modelId="{E434B475-7EA1-44D2-8B1A-F82B4C50954D}" type="presOf" srcId="{9979E402-2F88-436A-8282-66EF53786664}" destId="{E878FD4D-12B7-458B-BC0F-B75BEB791108}" srcOrd="0" destOrd="0" presId="urn:microsoft.com/office/officeart/2005/8/layout/hProcess4"/>
    <dgm:cxn modelId="{83FA1876-1988-4AA7-8772-424EBC865BEE}" srcId="{4EF5B21F-0522-4B37-85D6-CEB430CCB426}" destId="{DE3AD505-65C0-49B0-BBA3-107F8FE3DB83}" srcOrd="0" destOrd="0" parTransId="{3FB8894D-9D06-4462-954B-2CE4DB8E1B44}" sibTransId="{A4CBCBDC-32A9-4FEC-88AF-47A54C5CE209}"/>
    <dgm:cxn modelId="{C4486479-08EB-4FC4-8DCA-1090C522E791}" type="presOf" srcId="{1B2331C3-4ED8-496E-B08D-D0298EC66B33}" destId="{2B0884EC-019C-489D-80AA-7566A7966A30}" srcOrd="1" destOrd="3" presId="urn:microsoft.com/office/officeart/2005/8/layout/hProcess4"/>
    <dgm:cxn modelId="{2DE89C59-6E2F-45BA-9D96-C20A8E33861B}" type="presOf" srcId="{609221ED-82FD-45D9-955E-69D98C9F9837}" destId="{2B0884EC-019C-489D-80AA-7566A7966A30}" srcOrd="1" destOrd="2" presId="urn:microsoft.com/office/officeart/2005/8/layout/hProcess4"/>
    <dgm:cxn modelId="{4532DF9A-C60F-4A31-9302-868AC9FD0915}" type="presOf" srcId="{8B704CD4-C4A3-4CA8-9E6D-3F5A58FB5A6E}" destId="{850FA6B7-9A4F-4AA5-BDED-68AE9D7593C5}" srcOrd="0" destOrd="0" presId="urn:microsoft.com/office/officeart/2005/8/layout/hProcess4"/>
    <dgm:cxn modelId="{2D59BF9B-C353-4A4E-B246-09D813F235CA}" srcId="{B665338B-645B-41AE-983D-65FFD2CDBEFF}" destId="{9979E402-2F88-436A-8282-66EF53786664}" srcOrd="2" destOrd="0" parTransId="{FB82CA8F-FAAE-4338-B42D-411B71A393D0}" sibTransId="{9847EFBA-07E4-4A28-9C1A-E7667B923BB5}"/>
    <dgm:cxn modelId="{FB0DD99D-B2BA-4021-9408-65C4A75A33FA}" type="presOf" srcId="{73AD1036-9A58-4EFE-A690-768795CB6028}" destId="{2B0884EC-019C-489D-80AA-7566A7966A30}" srcOrd="1" destOrd="1" presId="urn:microsoft.com/office/officeart/2005/8/layout/hProcess4"/>
    <dgm:cxn modelId="{57C819A0-FEEF-4499-9215-010A53459E94}" type="presOf" srcId="{DE3AD505-65C0-49B0-BBA3-107F8FE3DB83}" destId="{D401E58F-260B-48C4-8ED1-6DB73FD4E661}" srcOrd="1" destOrd="0" presId="urn:microsoft.com/office/officeart/2005/8/layout/hProcess4"/>
    <dgm:cxn modelId="{386B6FA2-11AE-4306-87A5-5A0A9AD05545}" type="presOf" srcId="{DE3AD505-65C0-49B0-BBA3-107F8FE3DB83}" destId="{F05C07F2-711F-4DDA-BF5D-F2D18D771FE6}" srcOrd="0" destOrd="0" presId="urn:microsoft.com/office/officeart/2005/8/layout/hProcess4"/>
    <dgm:cxn modelId="{D15EB9A4-4448-42E4-825C-101418440CCE}" type="presOf" srcId="{3ED2CA7C-8CF3-4C7D-B586-70BE48490C21}" destId="{46A5BD50-A357-43EB-900E-7628F4E860EB}" srcOrd="0" destOrd="0" presId="urn:microsoft.com/office/officeart/2005/8/layout/hProcess4"/>
    <dgm:cxn modelId="{485B4FA8-4B7A-41EE-805A-0A7F9B58C05F}" srcId="{9979E402-2F88-436A-8282-66EF53786664}" destId="{1B2331C3-4ED8-496E-B08D-D0298EC66B33}" srcOrd="3" destOrd="0" parTransId="{AC82ECB6-EA97-4655-832A-F7DBD845A327}" sibTransId="{DF074269-6B53-4585-A81D-788C397101BD}"/>
    <dgm:cxn modelId="{A70050AC-16C3-4796-B1D0-E0E254CCE140}" srcId="{B665338B-645B-41AE-983D-65FFD2CDBEFF}" destId="{4EF5B21F-0522-4B37-85D6-CEB430CCB426}" srcOrd="3" destOrd="0" parTransId="{06D2B8CE-436D-4AFF-82EB-8E83CF98C990}" sibTransId="{8AE8FF60-82A8-45AF-820F-8DF44D12B158}"/>
    <dgm:cxn modelId="{6C129AAC-CE1C-4F68-AB43-850E76371DBF}" type="presOf" srcId="{5A9B94D9-D4F7-4D1D-B7A5-E4EBAEBE5076}" destId="{2B0884EC-019C-489D-80AA-7566A7966A30}" srcOrd="1" destOrd="0" presId="urn:microsoft.com/office/officeart/2005/8/layout/hProcess4"/>
    <dgm:cxn modelId="{6E8D91AF-8DE7-4F4E-8EAB-E5CED69CEC1F}" type="presOf" srcId="{9847EFBA-07E4-4A28-9C1A-E7667B923BB5}" destId="{1578868B-2CAF-4820-BE2E-8D12F7F7A919}" srcOrd="0" destOrd="0" presId="urn:microsoft.com/office/officeart/2005/8/layout/hProcess4"/>
    <dgm:cxn modelId="{89E99CB0-D87A-4B3C-9588-85E36DE4E5D4}" type="presOf" srcId="{9AACA625-023E-4357-97C3-04906BC41DD8}" destId="{ADB04D02-A97C-4659-BAB1-BFD732875B6F}" srcOrd="0" destOrd="1" presId="urn:microsoft.com/office/officeart/2005/8/layout/hProcess4"/>
    <dgm:cxn modelId="{621691B4-DDBD-4DF2-B1B0-FB701B9853D5}" type="presOf" srcId="{A3A0FADB-9E1C-46FA-9954-1A7B414B35B9}" destId="{D401E58F-260B-48C4-8ED1-6DB73FD4E661}" srcOrd="1" destOrd="1" presId="urn:microsoft.com/office/officeart/2005/8/layout/hProcess4"/>
    <dgm:cxn modelId="{16ECBFB4-04FA-4F01-9B73-FB666D5B3594}" type="presOf" srcId="{39031FE6-9489-43E5-BCCE-9368A5102F41}" destId="{0F7E9FD4-6D4A-4F6B-86E7-3179B41C32BE}" srcOrd="1" destOrd="1" presId="urn:microsoft.com/office/officeart/2005/8/layout/hProcess4"/>
    <dgm:cxn modelId="{B5D0ECB7-E566-4057-A1EA-FD252152DFE1}" type="presOf" srcId="{59B08BBC-3ABB-47D1-B928-7D3326411A7C}" destId="{7AE20833-C756-4510-9EF0-F24DE50F50DA}" srcOrd="1" destOrd="0" presId="urn:microsoft.com/office/officeart/2005/8/layout/hProcess4"/>
    <dgm:cxn modelId="{3CB867B9-6F43-4AB6-9530-DB6C5EF59301}" srcId="{D6FB274B-FC90-4E83-AEF4-3C4FAD353500}" destId="{0B006AC3-28C8-4288-AFED-91FA3D0A00F9}" srcOrd="1" destOrd="0" parTransId="{3666285E-AE42-426B-A018-E0BA7E841619}" sibTransId="{80AA56DF-E813-4B21-A7F1-6FEC4A8ABA5B}"/>
    <dgm:cxn modelId="{512E31BD-BF4D-4053-8171-89D1D2BD3D55}" type="presOf" srcId="{0B006AC3-28C8-4288-AFED-91FA3D0A00F9}" destId="{B6E2E50B-E13E-4164-8844-C48D2241F28F}" srcOrd="1" destOrd="1" presId="urn:microsoft.com/office/officeart/2005/8/layout/hProcess4"/>
    <dgm:cxn modelId="{20329BC2-7661-4608-A1B3-90DD63C183D1}" type="presOf" srcId="{D6FB274B-FC90-4E83-AEF4-3C4FAD353500}" destId="{B490D780-DC4A-4D63-9BE5-4D77B5D5EE7D}" srcOrd="0" destOrd="0" presId="urn:microsoft.com/office/officeart/2005/8/layout/hProcess4"/>
    <dgm:cxn modelId="{A76D05C4-A12A-4B98-9194-3F92D8D6E43A}" srcId="{B665338B-645B-41AE-983D-65FFD2CDBEFF}" destId="{D6FB274B-FC90-4E83-AEF4-3C4FAD353500}" srcOrd="0" destOrd="0" parTransId="{5A19F18F-4921-423D-81BF-A1FD0D5AC97B}" sibTransId="{8B704CD4-C4A3-4CA8-9E6D-3F5A58FB5A6E}"/>
    <dgm:cxn modelId="{500E1CC5-E3EB-48CE-81C8-01B2FF0977A1}" type="presOf" srcId="{609221ED-82FD-45D9-955E-69D98C9F9837}" destId="{F19BD381-30C3-4201-B50A-E41684C9478F}" srcOrd="0" destOrd="2" presId="urn:microsoft.com/office/officeart/2005/8/layout/hProcess4"/>
    <dgm:cxn modelId="{E51FFEC5-0C48-4BFD-9DD2-0E5F0D9F9B63}" srcId="{B665338B-645B-41AE-983D-65FFD2CDBEFF}" destId="{2207399F-F7A9-4246-825E-CB2F59081A8E}" srcOrd="1" destOrd="0" parTransId="{0BBDA673-1136-4713-8084-109E95915A75}" sibTransId="{4151D506-449B-4309-95E1-51332BF9EED7}"/>
    <dgm:cxn modelId="{CA233CC6-92B2-4A88-BEFC-46B83D41E595}" srcId="{2207399F-F7A9-4246-825E-CB2F59081A8E}" destId="{39031FE6-9489-43E5-BCCE-9368A5102F41}" srcOrd="1" destOrd="0" parTransId="{8B494894-2007-4090-BB37-185754316FE5}" sibTransId="{894F75BD-961D-4E6E-8B14-1223A8001890}"/>
    <dgm:cxn modelId="{47FFA8C6-5991-4EDA-8402-967CDCF06D51}" srcId="{4EF5B21F-0522-4B37-85D6-CEB430CCB426}" destId="{A3A0FADB-9E1C-46FA-9954-1A7B414B35B9}" srcOrd="1" destOrd="0" parTransId="{38FAC2C9-419E-4EF5-879C-35B6091251F6}" sibTransId="{F5341326-D575-46DC-A6B0-BD344AD6EE25}"/>
    <dgm:cxn modelId="{A8E619CC-CD02-4E00-B8C5-610274244D24}" type="presOf" srcId="{C29477DB-93CB-41C5-979C-064DF5F4039B}" destId="{6B4282B9-062B-41C5-898A-A66339751090}" srcOrd="0" destOrd="0" presId="urn:microsoft.com/office/officeart/2005/8/layout/hProcess4"/>
    <dgm:cxn modelId="{92BD74CD-A52D-439A-B938-51B066954595}" srcId="{B665338B-645B-41AE-983D-65FFD2CDBEFF}" destId="{C29477DB-93CB-41C5-979C-064DF5F4039B}" srcOrd="4" destOrd="0" parTransId="{146D272C-43EF-4C36-BDDC-49E2C0F2BD02}" sibTransId="{D3BF079C-D04F-4E30-9314-BE8D4456213A}"/>
    <dgm:cxn modelId="{B17DDED1-670D-4B61-B3E7-F712F73AE8BF}" type="presOf" srcId="{39031FE6-9489-43E5-BCCE-9368A5102F41}" destId="{46A5BD50-A357-43EB-900E-7628F4E860EB}" srcOrd="0" destOrd="1" presId="urn:microsoft.com/office/officeart/2005/8/layout/hProcess4"/>
    <dgm:cxn modelId="{6A727CD2-775C-4511-B002-9C281868F8FC}" type="presOf" srcId="{8D030EC8-A772-4D56-8F07-0AE23381547A}" destId="{7B6A1E41-DCFE-4AC5-8D88-041D7A647606}" srcOrd="0" destOrd="0" presId="urn:microsoft.com/office/officeart/2005/8/layout/hProcess4"/>
    <dgm:cxn modelId="{9768A2D3-4C6C-49DA-8A2F-78843B19EEF7}" type="presOf" srcId="{73AD1036-9A58-4EFE-A690-768795CB6028}" destId="{F19BD381-30C3-4201-B50A-E41684C9478F}" srcOrd="0" destOrd="1" presId="urn:microsoft.com/office/officeart/2005/8/layout/hProcess4"/>
    <dgm:cxn modelId="{897409D9-192B-4EDF-8972-02F349E168B0}" type="presOf" srcId="{4EF5B21F-0522-4B37-85D6-CEB430CCB426}" destId="{3EA60A08-F209-4DFD-A8C0-33D58C80F67D}" srcOrd="0" destOrd="0" presId="urn:microsoft.com/office/officeart/2005/8/layout/hProcess4"/>
    <dgm:cxn modelId="{76A112EF-4F15-4699-96ED-8440111B0D2F}" type="presOf" srcId="{3ED2CA7C-8CF3-4C7D-B586-70BE48490C21}" destId="{0F7E9FD4-6D4A-4F6B-86E7-3179B41C32BE}" srcOrd="1" destOrd="0" presId="urn:microsoft.com/office/officeart/2005/8/layout/hProcess4"/>
    <dgm:cxn modelId="{DAEEB7EF-C8BB-4E20-B08B-BB49E4076AEB}" type="presOf" srcId="{4151D506-449B-4309-95E1-51332BF9EED7}" destId="{DB00C555-2EA1-4D87-A59D-2B8C4B0D5343}" srcOrd="0" destOrd="0" presId="urn:microsoft.com/office/officeart/2005/8/layout/hProcess4"/>
    <dgm:cxn modelId="{09CF8BF3-4050-4D48-B720-9B954225D1AE}" type="presOf" srcId="{B665338B-645B-41AE-983D-65FFD2CDBEFF}" destId="{0988CE5C-27CF-4DBE-A10F-ED07BCA1B13B}" srcOrd="0" destOrd="0" presId="urn:microsoft.com/office/officeart/2005/8/layout/hProcess4"/>
    <dgm:cxn modelId="{8E02247B-249E-4971-8582-4D578DC693B5}" type="presParOf" srcId="{0988CE5C-27CF-4DBE-A10F-ED07BCA1B13B}" destId="{3B42B861-20D8-4D43-90F3-4BC0C7641FEA}" srcOrd="0" destOrd="0" presId="urn:microsoft.com/office/officeart/2005/8/layout/hProcess4"/>
    <dgm:cxn modelId="{8A984E5A-25BC-457C-8A35-C399DC0FA32C}" type="presParOf" srcId="{0988CE5C-27CF-4DBE-A10F-ED07BCA1B13B}" destId="{130535EF-3ED6-4707-8CDF-434B62E24FB2}" srcOrd="1" destOrd="0" presId="urn:microsoft.com/office/officeart/2005/8/layout/hProcess4"/>
    <dgm:cxn modelId="{6BDDB780-B06A-4A02-A045-9E0ED006ED79}" type="presParOf" srcId="{0988CE5C-27CF-4DBE-A10F-ED07BCA1B13B}" destId="{1B16AE6F-9C06-44DE-B7B3-443002962661}" srcOrd="2" destOrd="0" presId="urn:microsoft.com/office/officeart/2005/8/layout/hProcess4"/>
    <dgm:cxn modelId="{284311B6-26B0-4243-8D7B-D38DAC4C268D}" type="presParOf" srcId="{1B16AE6F-9C06-44DE-B7B3-443002962661}" destId="{47783FFD-6B7A-4B16-8B2D-C7BCF1A62BEB}" srcOrd="0" destOrd="0" presId="urn:microsoft.com/office/officeart/2005/8/layout/hProcess4"/>
    <dgm:cxn modelId="{6CF7F396-8827-4D14-8DA4-69EA159A7927}" type="presParOf" srcId="{47783FFD-6B7A-4B16-8B2D-C7BCF1A62BEB}" destId="{DA10E415-6204-420F-80BD-B31B53E13273}" srcOrd="0" destOrd="0" presId="urn:microsoft.com/office/officeart/2005/8/layout/hProcess4"/>
    <dgm:cxn modelId="{6840C6C7-18AF-4FA3-B345-E8BDFA5973F2}" type="presParOf" srcId="{47783FFD-6B7A-4B16-8B2D-C7BCF1A62BEB}" destId="{7B6A1E41-DCFE-4AC5-8D88-041D7A647606}" srcOrd="1" destOrd="0" presId="urn:microsoft.com/office/officeart/2005/8/layout/hProcess4"/>
    <dgm:cxn modelId="{86D63359-65D5-4766-A686-645809ACA013}" type="presParOf" srcId="{47783FFD-6B7A-4B16-8B2D-C7BCF1A62BEB}" destId="{B6E2E50B-E13E-4164-8844-C48D2241F28F}" srcOrd="2" destOrd="0" presId="urn:microsoft.com/office/officeart/2005/8/layout/hProcess4"/>
    <dgm:cxn modelId="{3C1FE65B-F63C-476D-A462-06C3B488B153}" type="presParOf" srcId="{47783FFD-6B7A-4B16-8B2D-C7BCF1A62BEB}" destId="{B490D780-DC4A-4D63-9BE5-4D77B5D5EE7D}" srcOrd="3" destOrd="0" presId="urn:microsoft.com/office/officeart/2005/8/layout/hProcess4"/>
    <dgm:cxn modelId="{F200723C-5CF0-4576-B034-C5F7F4DFBE56}" type="presParOf" srcId="{47783FFD-6B7A-4B16-8B2D-C7BCF1A62BEB}" destId="{87DD02B4-7C99-44ED-82C9-CCF60F0E4156}" srcOrd="4" destOrd="0" presId="urn:microsoft.com/office/officeart/2005/8/layout/hProcess4"/>
    <dgm:cxn modelId="{199FFFF0-6D65-4F9A-B6C0-9510B4DCD180}" type="presParOf" srcId="{1B16AE6F-9C06-44DE-B7B3-443002962661}" destId="{850FA6B7-9A4F-4AA5-BDED-68AE9D7593C5}" srcOrd="1" destOrd="0" presId="urn:microsoft.com/office/officeart/2005/8/layout/hProcess4"/>
    <dgm:cxn modelId="{97E4FEDA-2837-422C-BF97-0B9F4F4675A1}" type="presParOf" srcId="{1B16AE6F-9C06-44DE-B7B3-443002962661}" destId="{0328E4F2-55DB-49EF-9802-C730AABD0081}" srcOrd="2" destOrd="0" presId="urn:microsoft.com/office/officeart/2005/8/layout/hProcess4"/>
    <dgm:cxn modelId="{D556B14D-B12A-4BAD-B76F-427687752D7E}" type="presParOf" srcId="{0328E4F2-55DB-49EF-9802-C730AABD0081}" destId="{AD0988AB-4656-45BA-92AB-034657C4B796}" srcOrd="0" destOrd="0" presId="urn:microsoft.com/office/officeart/2005/8/layout/hProcess4"/>
    <dgm:cxn modelId="{35B16C7A-7A36-4491-A600-2248633CE92E}" type="presParOf" srcId="{0328E4F2-55DB-49EF-9802-C730AABD0081}" destId="{46A5BD50-A357-43EB-900E-7628F4E860EB}" srcOrd="1" destOrd="0" presId="urn:microsoft.com/office/officeart/2005/8/layout/hProcess4"/>
    <dgm:cxn modelId="{46861D2F-B34E-48EE-86A2-89AAD7B68687}" type="presParOf" srcId="{0328E4F2-55DB-49EF-9802-C730AABD0081}" destId="{0F7E9FD4-6D4A-4F6B-86E7-3179B41C32BE}" srcOrd="2" destOrd="0" presId="urn:microsoft.com/office/officeart/2005/8/layout/hProcess4"/>
    <dgm:cxn modelId="{F0696B38-CC8E-4F68-8F0C-6307A16AF796}" type="presParOf" srcId="{0328E4F2-55DB-49EF-9802-C730AABD0081}" destId="{DDA911AB-DE02-438A-8E06-1357C3CEF326}" srcOrd="3" destOrd="0" presId="urn:microsoft.com/office/officeart/2005/8/layout/hProcess4"/>
    <dgm:cxn modelId="{FDB293E5-83F2-4B35-A524-C84FF5568549}" type="presParOf" srcId="{0328E4F2-55DB-49EF-9802-C730AABD0081}" destId="{7804C83F-F9D9-4951-9D31-12A35D659178}" srcOrd="4" destOrd="0" presId="urn:microsoft.com/office/officeart/2005/8/layout/hProcess4"/>
    <dgm:cxn modelId="{8D3D8840-A11F-4F86-B3D3-BD0DEC9D092D}" type="presParOf" srcId="{1B16AE6F-9C06-44DE-B7B3-443002962661}" destId="{DB00C555-2EA1-4D87-A59D-2B8C4B0D5343}" srcOrd="3" destOrd="0" presId="urn:microsoft.com/office/officeart/2005/8/layout/hProcess4"/>
    <dgm:cxn modelId="{0ADE820B-90DB-48CC-AF84-55E1B28F3DD4}" type="presParOf" srcId="{1B16AE6F-9C06-44DE-B7B3-443002962661}" destId="{2117CB8B-B23D-45D5-9E33-38B69A7745CD}" srcOrd="4" destOrd="0" presId="urn:microsoft.com/office/officeart/2005/8/layout/hProcess4"/>
    <dgm:cxn modelId="{B535CAEE-4949-428A-8C91-FC9FD28E5B0D}" type="presParOf" srcId="{2117CB8B-B23D-45D5-9E33-38B69A7745CD}" destId="{C0FF3479-16E6-49BC-A8B8-4C9F990843A7}" srcOrd="0" destOrd="0" presId="urn:microsoft.com/office/officeart/2005/8/layout/hProcess4"/>
    <dgm:cxn modelId="{713357C0-02CC-4FCC-9CAD-1FF1A82A56DB}" type="presParOf" srcId="{2117CB8B-B23D-45D5-9E33-38B69A7745CD}" destId="{F19BD381-30C3-4201-B50A-E41684C9478F}" srcOrd="1" destOrd="0" presId="urn:microsoft.com/office/officeart/2005/8/layout/hProcess4"/>
    <dgm:cxn modelId="{EDDA57EF-EF1F-43B9-B468-2E3A41BA07B0}" type="presParOf" srcId="{2117CB8B-B23D-45D5-9E33-38B69A7745CD}" destId="{2B0884EC-019C-489D-80AA-7566A7966A30}" srcOrd="2" destOrd="0" presId="urn:microsoft.com/office/officeart/2005/8/layout/hProcess4"/>
    <dgm:cxn modelId="{B7A03FFD-9BB8-4113-A6F2-4CD2CE00EFB8}" type="presParOf" srcId="{2117CB8B-B23D-45D5-9E33-38B69A7745CD}" destId="{E878FD4D-12B7-458B-BC0F-B75BEB791108}" srcOrd="3" destOrd="0" presId="urn:microsoft.com/office/officeart/2005/8/layout/hProcess4"/>
    <dgm:cxn modelId="{C976CD9F-50A8-4F68-81EE-61406A37FF7E}" type="presParOf" srcId="{2117CB8B-B23D-45D5-9E33-38B69A7745CD}" destId="{027CC7A2-E7F3-4B8D-9476-6FC0FC0D42B5}" srcOrd="4" destOrd="0" presId="urn:microsoft.com/office/officeart/2005/8/layout/hProcess4"/>
    <dgm:cxn modelId="{28114FC8-FE8A-4245-9F99-8C1E93FECBD2}" type="presParOf" srcId="{1B16AE6F-9C06-44DE-B7B3-443002962661}" destId="{1578868B-2CAF-4820-BE2E-8D12F7F7A919}" srcOrd="5" destOrd="0" presId="urn:microsoft.com/office/officeart/2005/8/layout/hProcess4"/>
    <dgm:cxn modelId="{4512F751-2445-4C67-A021-4D4F78DDA44E}" type="presParOf" srcId="{1B16AE6F-9C06-44DE-B7B3-443002962661}" destId="{578FD416-01AF-4BF7-8392-ADA912499F29}" srcOrd="6" destOrd="0" presId="urn:microsoft.com/office/officeart/2005/8/layout/hProcess4"/>
    <dgm:cxn modelId="{F4AD7042-6255-4D13-98CB-9ED5E25493DC}" type="presParOf" srcId="{578FD416-01AF-4BF7-8392-ADA912499F29}" destId="{7E780BE3-10E5-46D1-8004-1C601ECFD3D8}" srcOrd="0" destOrd="0" presId="urn:microsoft.com/office/officeart/2005/8/layout/hProcess4"/>
    <dgm:cxn modelId="{1D18C789-A928-40B5-AB2C-E2659849D4AA}" type="presParOf" srcId="{578FD416-01AF-4BF7-8392-ADA912499F29}" destId="{F05C07F2-711F-4DDA-BF5D-F2D18D771FE6}" srcOrd="1" destOrd="0" presId="urn:microsoft.com/office/officeart/2005/8/layout/hProcess4"/>
    <dgm:cxn modelId="{3003F9AB-A521-4335-9260-1978D1AD3CB6}" type="presParOf" srcId="{578FD416-01AF-4BF7-8392-ADA912499F29}" destId="{D401E58F-260B-48C4-8ED1-6DB73FD4E661}" srcOrd="2" destOrd="0" presId="urn:microsoft.com/office/officeart/2005/8/layout/hProcess4"/>
    <dgm:cxn modelId="{7A83E9D0-44EA-44A1-9000-8CECBCF7FFB4}" type="presParOf" srcId="{578FD416-01AF-4BF7-8392-ADA912499F29}" destId="{3EA60A08-F209-4DFD-A8C0-33D58C80F67D}" srcOrd="3" destOrd="0" presId="urn:microsoft.com/office/officeart/2005/8/layout/hProcess4"/>
    <dgm:cxn modelId="{93679562-A747-405A-B8BB-8C6D60BD8694}" type="presParOf" srcId="{578FD416-01AF-4BF7-8392-ADA912499F29}" destId="{7817C187-EDC9-4BDB-8E07-5816A8486ADC}" srcOrd="4" destOrd="0" presId="urn:microsoft.com/office/officeart/2005/8/layout/hProcess4"/>
    <dgm:cxn modelId="{D5EE8E5D-BA15-4F09-BD1C-2325FB452574}" type="presParOf" srcId="{1B16AE6F-9C06-44DE-B7B3-443002962661}" destId="{6D128CA8-FD42-4C08-9436-4EB380FD44D3}" srcOrd="7" destOrd="0" presId="urn:microsoft.com/office/officeart/2005/8/layout/hProcess4"/>
    <dgm:cxn modelId="{11C561E8-3DB9-4233-82E5-7A77C6CB7F97}" type="presParOf" srcId="{1B16AE6F-9C06-44DE-B7B3-443002962661}" destId="{838A943B-5AF7-470A-AED0-8ACF9C66754C}" srcOrd="8" destOrd="0" presId="urn:microsoft.com/office/officeart/2005/8/layout/hProcess4"/>
    <dgm:cxn modelId="{68E3EDAA-0B34-4001-9103-77A34C041E9C}" type="presParOf" srcId="{838A943B-5AF7-470A-AED0-8ACF9C66754C}" destId="{30F6E697-57B1-4870-BFC9-533B32FBD49C}" srcOrd="0" destOrd="0" presId="urn:microsoft.com/office/officeart/2005/8/layout/hProcess4"/>
    <dgm:cxn modelId="{E98B8F1A-0BC9-40B0-94F9-23E3CBFFD17F}" type="presParOf" srcId="{838A943B-5AF7-470A-AED0-8ACF9C66754C}" destId="{ADB04D02-A97C-4659-BAB1-BFD732875B6F}" srcOrd="1" destOrd="0" presId="urn:microsoft.com/office/officeart/2005/8/layout/hProcess4"/>
    <dgm:cxn modelId="{08ECF840-089C-4862-ABAF-C7E6617793E6}" type="presParOf" srcId="{838A943B-5AF7-470A-AED0-8ACF9C66754C}" destId="{7AE20833-C756-4510-9EF0-F24DE50F50DA}" srcOrd="2" destOrd="0" presId="urn:microsoft.com/office/officeart/2005/8/layout/hProcess4"/>
    <dgm:cxn modelId="{195A2B67-DBF7-495C-AFA0-FB7C558E505D}" type="presParOf" srcId="{838A943B-5AF7-470A-AED0-8ACF9C66754C}" destId="{6B4282B9-062B-41C5-898A-A66339751090}" srcOrd="3" destOrd="0" presId="urn:microsoft.com/office/officeart/2005/8/layout/hProcess4"/>
    <dgm:cxn modelId="{341B1116-E638-45B0-BA3D-E687D79EBA22}" type="presParOf" srcId="{838A943B-5AF7-470A-AED0-8ACF9C66754C}" destId="{04B1D9E8-A2BC-4D6C-9BD0-5020C9F200A9}"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6A1E41-DCFE-4AC5-8D88-041D7A647606}">
      <dsp:nvSpPr>
        <dsp:cNvPr id="0" name=""/>
        <dsp:cNvSpPr/>
      </dsp:nvSpPr>
      <dsp:spPr>
        <a:xfrm>
          <a:off x="19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Denné ceny akcií</a:t>
          </a:r>
        </a:p>
        <a:p>
          <a:pPr marL="114300" lvl="1" indent="-114300" algn="l" defTabSz="622300">
            <a:lnSpc>
              <a:spcPct val="100000"/>
            </a:lnSpc>
            <a:spcBef>
              <a:spcPct val="0"/>
            </a:spcBef>
            <a:spcAft>
              <a:spcPct val="15000"/>
            </a:spcAft>
            <a:buChar char="•"/>
          </a:pPr>
          <a:r>
            <a:rPr lang="sk-SK" sz="1400" kern="1200" dirty="0" err="1"/>
            <a:t>Exploračná</a:t>
          </a:r>
          <a:r>
            <a:rPr lang="sk-SK" sz="1400" kern="1200" dirty="0"/>
            <a:t> analýza</a:t>
          </a:r>
        </a:p>
      </dsp:txBody>
      <dsp:txXfrm>
        <a:off x="34612" y="1398665"/>
        <a:ext cx="1657246" cy="1050963"/>
      </dsp:txXfrm>
    </dsp:sp>
    <dsp:sp modelId="{850FA6B7-9A4F-4AA5-BDED-68AE9D7593C5}">
      <dsp:nvSpPr>
        <dsp:cNvPr id="0" name=""/>
        <dsp:cNvSpPr/>
      </dsp:nvSpPr>
      <dsp:spPr>
        <a:xfrm>
          <a:off x="872929" y="1328870"/>
          <a:ext cx="2065304" cy="2065304"/>
        </a:xfrm>
        <a:prstGeom prst="leftCircularArrow">
          <a:avLst>
            <a:gd name="adj1" fmla="val 3950"/>
            <a:gd name="adj2" fmla="val 495472"/>
            <a:gd name="adj3" fmla="val 2270983"/>
            <a:gd name="adj4" fmla="val 9024489"/>
            <a:gd name="adj5" fmla="val 460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490D780-DC4A-4D63-9BE5-4D77B5D5EE7D}">
      <dsp:nvSpPr>
        <dsp:cNvPr id="0" name=""/>
        <dsp:cNvSpPr/>
      </dsp:nvSpPr>
      <dsp:spPr>
        <a:xfrm>
          <a:off x="3847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Dáta</a:t>
          </a:r>
        </a:p>
      </dsp:txBody>
      <dsp:txXfrm>
        <a:off x="402559" y="2500161"/>
        <a:ext cx="1495566" cy="573252"/>
      </dsp:txXfrm>
    </dsp:sp>
    <dsp:sp modelId="{46A5BD50-A357-43EB-900E-7628F4E860EB}">
      <dsp:nvSpPr>
        <dsp:cNvPr id="0" name=""/>
        <dsp:cNvSpPr/>
      </dsp:nvSpPr>
      <dsp:spPr>
        <a:xfrm>
          <a:off x="230446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Log výnosy</a:t>
          </a:r>
        </a:p>
        <a:p>
          <a:pPr marL="114300" lvl="1" indent="-114300" algn="l" defTabSz="622300">
            <a:lnSpc>
              <a:spcPct val="100000"/>
            </a:lnSpc>
            <a:spcBef>
              <a:spcPct val="0"/>
            </a:spcBef>
            <a:spcAft>
              <a:spcPct val="15000"/>
            </a:spcAft>
            <a:buChar char="•"/>
          </a:pPr>
          <a:r>
            <a:rPr lang="sk-SK" sz="1400" kern="1200" dirty="0"/>
            <a:t>Časové obdobia</a:t>
          </a:r>
        </a:p>
      </dsp:txBody>
      <dsp:txXfrm>
        <a:off x="2337162" y="1703126"/>
        <a:ext cx="1657246" cy="1050963"/>
      </dsp:txXfrm>
    </dsp:sp>
    <dsp:sp modelId="{DB00C555-2EA1-4D87-A59D-2B8C4B0D5343}">
      <dsp:nvSpPr>
        <dsp:cNvPr id="0" name=""/>
        <dsp:cNvSpPr/>
      </dsp:nvSpPr>
      <dsp:spPr>
        <a:xfrm>
          <a:off x="3162058" y="690838"/>
          <a:ext cx="2285419" cy="2285419"/>
        </a:xfrm>
        <a:prstGeom prst="circularArrow">
          <a:avLst>
            <a:gd name="adj1" fmla="val 3570"/>
            <a:gd name="adj2" fmla="val 443675"/>
            <a:gd name="adj3" fmla="val 19380814"/>
            <a:gd name="adj4" fmla="val 12575511"/>
            <a:gd name="adj5" fmla="val 4165"/>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DA911AB-DE02-438A-8E06-1357C3CEF326}">
      <dsp:nvSpPr>
        <dsp:cNvPr id="0" name=""/>
        <dsp:cNvSpPr/>
      </dsp:nvSpPr>
      <dsp:spPr>
        <a:xfrm>
          <a:off x="2687274" y="1061507"/>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Volatilita</a:t>
          </a:r>
        </a:p>
      </dsp:txBody>
      <dsp:txXfrm>
        <a:off x="2705109" y="1079342"/>
        <a:ext cx="1495566" cy="573252"/>
      </dsp:txXfrm>
    </dsp:sp>
    <dsp:sp modelId="{F19BD381-30C3-4201-B50A-E41684C9478F}">
      <dsp:nvSpPr>
        <dsp:cNvPr id="0" name=""/>
        <dsp:cNvSpPr/>
      </dsp:nvSpPr>
      <dsp:spPr>
        <a:xfrm>
          <a:off x="46070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GARCH</a:t>
          </a:r>
        </a:p>
        <a:p>
          <a:pPr marL="114300" lvl="1" indent="-114300" algn="l" defTabSz="622300">
            <a:lnSpc>
              <a:spcPct val="100000"/>
            </a:lnSpc>
            <a:spcBef>
              <a:spcPct val="0"/>
            </a:spcBef>
            <a:spcAft>
              <a:spcPct val="15000"/>
            </a:spcAft>
            <a:buChar char="•"/>
          </a:pPr>
          <a:r>
            <a:rPr lang="sk-SK" sz="1400" kern="1200" dirty="0"/>
            <a:t>HAR</a:t>
          </a:r>
        </a:p>
        <a:p>
          <a:pPr marL="114300" lvl="1" indent="-114300" algn="l" defTabSz="622300">
            <a:lnSpc>
              <a:spcPct val="100000"/>
            </a:lnSpc>
            <a:spcBef>
              <a:spcPct val="0"/>
            </a:spcBef>
            <a:spcAft>
              <a:spcPct val="15000"/>
            </a:spcAft>
            <a:buChar char="•"/>
          </a:pPr>
          <a:r>
            <a:rPr lang="sk-SK" sz="1400" kern="1200" dirty="0" err="1"/>
            <a:t>XGBoost</a:t>
          </a:r>
          <a:endParaRPr lang="sk-SK" sz="1400" kern="1200" dirty="0"/>
        </a:p>
        <a:p>
          <a:pPr marL="114300" lvl="1" indent="-114300" algn="l" defTabSz="622300">
            <a:lnSpc>
              <a:spcPct val="100000"/>
            </a:lnSpc>
            <a:spcBef>
              <a:spcPct val="0"/>
            </a:spcBef>
            <a:spcAft>
              <a:spcPct val="15000"/>
            </a:spcAft>
            <a:buChar char="•"/>
          </a:pPr>
          <a:r>
            <a:rPr lang="sk-SK" sz="1400" kern="1200" dirty="0"/>
            <a:t>LSTM</a:t>
          </a:r>
        </a:p>
      </dsp:txBody>
      <dsp:txXfrm>
        <a:off x="4639712" y="1398665"/>
        <a:ext cx="1657246" cy="1050963"/>
      </dsp:txXfrm>
    </dsp:sp>
    <dsp:sp modelId="{1578868B-2CAF-4820-BE2E-8D12F7F7A919}">
      <dsp:nvSpPr>
        <dsp:cNvPr id="0" name=""/>
        <dsp:cNvSpPr/>
      </dsp:nvSpPr>
      <dsp:spPr>
        <a:xfrm>
          <a:off x="5454113" y="1357102"/>
          <a:ext cx="2065304" cy="2065304"/>
        </a:xfrm>
        <a:prstGeom prst="leftCircularArrow">
          <a:avLst>
            <a:gd name="adj1" fmla="val 3950"/>
            <a:gd name="adj2" fmla="val 495472"/>
            <a:gd name="adj3" fmla="val 2270983"/>
            <a:gd name="adj4" fmla="val 9024489"/>
            <a:gd name="adj5" fmla="val 460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878FD4D-12B7-458B-BC0F-B75BEB791108}">
      <dsp:nvSpPr>
        <dsp:cNvPr id="0" name=""/>
        <dsp:cNvSpPr/>
      </dsp:nvSpPr>
      <dsp:spPr>
        <a:xfrm>
          <a:off x="49898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Modely</a:t>
          </a:r>
        </a:p>
      </dsp:txBody>
      <dsp:txXfrm>
        <a:off x="5007659" y="2500161"/>
        <a:ext cx="1495566" cy="573252"/>
      </dsp:txXfrm>
    </dsp:sp>
    <dsp:sp modelId="{F05C07F2-711F-4DDA-BF5D-F2D18D771FE6}">
      <dsp:nvSpPr>
        <dsp:cNvPr id="0" name=""/>
        <dsp:cNvSpPr/>
      </dsp:nvSpPr>
      <dsp:spPr>
        <a:xfrm>
          <a:off x="690956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RMSE, QLIKE</a:t>
          </a:r>
        </a:p>
        <a:p>
          <a:pPr marL="114300" lvl="1" indent="-114300" algn="l" defTabSz="622300">
            <a:lnSpc>
              <a:spcPct val="100000"/>
            </a:lnSpc>
            <a:spcBef>
              <a:spcPct val="0"/>
            </a:spcBef>
            <a:spcAft>
              <a:spcPct val="15000"/>
            </a:spcAft>
            <a:buChar char="•"/>
          </a:pPr>
          <a:r>
            <a:rPr lang="sk-SK" sz="1400" kern="1200" dirty="0" err="1"/>
            <a:t>Rolling-Window</a:t>
          </a:r>
          <a:endParaRPr lang="sk-SK" sz="1400" kern="1200" dirty="0"/>
        </a:p>
      </dsp:txBody>
      <dsp:txXfrm>
        <a:off x="6942262" y="1703126"/>
        <a:ext cx="1657246" cy="1050963"/>
      </dsp:txXfrm>
    </dsp:sp>
    <dsp:sp modelId="{6D128CA8-FD42-4C08-9436-4EB380FD44D3}">
      <dsp:nvSpPr>
        <dsp:cNvPr id="0" name=""/>
        <dsp:cNvSpPr/>
      </dsp:nvSpPr>
      <dsp:spPr>
        <a:xfrm>
          <a:off x="7832087" y="690838"/>
          <a:ext cx="2285419" cy="2285419"/>
        </a:xfrm>
        <a:prstGeom prst="circularArrow">
          <a:avLst>
            <a:gd name="adj1" fmla="val 3570"/>
            <a:gd name="adj2" fmla="val 443675"/>
            <a:gd name="adj3" fmla="val 19380814"/>
            <a:gd name="adj4" fmla="val 12575511"/>
            <a:gd name="adj5" fmla="val 4165"/>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EA60A08-F209-4DFD-A8C0-33D58C80F67D}">
      <dsp:nvSpPr>
        <dsp:cNvPr id="0" name=""/>
        <dsp:cNvSpPr/>
      </dsp:nvSpPr>
      <dsp:spPr>
        <a:xfrm>
          <a:off x="7292374" y="1061507"/>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Validácia</a:t>
          </a:r>
        </a:p>
      </dsp:txBody>
      <dsp:txXfrm>
        <a:off x="7310209" y="1079342"/>
        <a:ext cx="1495566" cy="573252"/>
      </dsp:txXfrm>
    </dsp:sp>
    <dsp:sp modelId="{ADB04D02-A97C-4659-BAB1-BFD732875B6F}">
      <dsp:nvSpPr>
        <dsp:cNvPr id="0" name=""/>
        <dsp:cNvSpPr/>
      </dsp:nvSpPr>
      <dsp:spPr>
        <a:xfrm>
          <a:off x="92121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Vzory volatility</a:t>
          </a:r>
        </a:p>
        <a:p>
          <a:pPr marL="114300" lvl="1" indent="-114300" algn="l" defTabSz="622300">
            <a:lnSpc>
              <a:spcPct val="100000"/>
            </a:lnSpc>
            <a:spcBef>
              <a:spcPct val="0"/>
            </a:spcBef>
            <a:spcAft>
              <a:spcPct val="15000"/>
            </a:spcAft>
            <a:buChar char="•"/>
          </a:pPr>
          <a:r>
            <a:rPr lang="sk-SK" sz="1400" kern="1200" dirty="0"/>
            <a:t>Komparácia trhov a modelov</a:t>
          </a:r>
        </a:p>
      </dsp:txBody>
      <dsp:txXfrm>
        <a:off x="9244812" y="1398665"/>
        <a:ext cx="1657246" cy="1050963"/>
      </dsp:txXfrm>
    </dsp:sp>
    <dsp:sp modelId="{6B4282B9-062B-41C5-898A-A66339751090}">
      <dsp:nvSpPr>
        <dsp:cNvPr id="0" name=""/>
        <dsp:cNvSpPr/>
      </dsp:nvSpPr>
      <dsp:spPr>
        <a:xfrm>
          <a:off x="95949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Výsledky</a:t>
          </a:r>
        </a:p>
      </dsp:txBody>
      <dsp:txXfrm>
        <a:off x="9612759" y="2500161"/>
        <a:ext cx="1495566" cy="57325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Zástupný objekt pre hlavičk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Zástupný objekt pre dá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9B504B-8E04-47AE-BBD5-0260BCE63BC0}" type="datetimeFigureOut">
              <a:rPr lang="sk-SK" smtClean="0"/>
              <a:t>25. 6. 2026</a:t>
            </a:fld>
            <a:endParaRPr lang="sk-SK"/>
          </a:p>
        </p:txBody>
      </p:sp>
      <p:sp>
        <p:nvSpPr>
          <p:cNvPr id="4" name="Zástupný objekt pre obrázok snímky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Zástupný objekt pre poznámky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6" name="Zástupný objekt pre pät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Zástupný objekt pre číslo snímky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C6227-A214-42BB-84EB-9C7415895DDE}" type="slidenum">
              <a:rPr lang="sk-SK" smtClean="0"/>
              <a:t>‹#›</a:t>
            </a:fld>
            <a:endParaRPr lang="sk-SK"/>
          </a:p>
        </p:txBody>
      </p:sp>
    </p:spTree>
    <p:extLst>
      <p:ext uri="{BB962C8B-B14F-4D97-AF65-F5344CB8AC3E}">
        <p14:creationId xmlns:p14="http://schemas.microsoft.com/office/powerpoint/2010/main" val="4120199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Vážená komisia, rád by som Vám predstavil môj koncept dizertačnej práce s názvom:</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1</a:t>
            </a:fld>
            <a:endParaRPr lang="sk-SK"/>
          </a:p>
        </p:txBody>
      </p:sp>
    </p:spTree>
    <p:extLst>
      <p:ext uri="{BB962C8B-B14F-4D97-AF65-F5344CB8AC3E}">
        <p14:creationId xmlns:p14="http://schemas.microsoft.com/office/powerpoint/2010/main" val="38226074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en-US" dirty="0" err="1"/>
              <a:t>Definova</a:t>
            </a:r>
            <a:r>
              <a:rPr lang="sk-SK" dirty="0"/>
              <a:t>ť cieľ a načrtnúť metodiku.</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2</a:t>
            </a:fld>
            <a:endParaRPr lang="sk-SK"/>
          </a:p>
        </p:txBody>
      </p:sp>
    </p:spTree>
    <p:extLst>
      <p:ext uri="{BB962C8B-B14F-4D97-AF65-F5344CB8AC3E}">
        <p14:creationId xmlns:p14="http://schemas.microsoft.com/office/powerpoint/2010/main" val="37958033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analýzu súčasného stavu a vyplývajúce medzery vo výskume.</a:t>
            </a:r>
          </a:p>
          <a:p>
            <a:endParaRPr lang="sk-SK" dirty="0"/>
          </a:p>
          <a:p>
            <a:r>
              <a:rPr lang="sk-SK" dirty="0"/>
              <a:t>Medzery:</a:t>
            </a:r>
          </a:p>
          <a:p>
            <a:r>
              <a:rPr lang="sk-SK" sz="1200" kern="1200" dirty="0">
                <a:solidFill>
                  <a:schemeClr val="tx1"/>
                </a:solidFill>
                <a:effectLst/>
                <a:latin typeface="+mn-lt"/>
                <a:ea typeface="+mn-ea"/>
                <a:cs typeface="+mn-cs"/>
              </a:rPr>
              <a:t>Z analýzy súčasného stavu je zrejmé, že metódy umelej inteligencie nielen trpia nízkou interpretovateľnosťou, ale ani konzistentne neprekonávajú štandardné ekonometrické modely. Preto je potrebný ďalší výskum. Doterajší výskum sa sústredí najmä na modelovanie globálnych trhových indexov ako SP500, STOXX600a SSE </a:t>
            </a:r>
            <a:r>
              <a:rPr lang="sk-SK" sz="1200" kern="1200" dirty="0" err="1">
                <a:solidFill>
                  <a:schemeClr val="tx1"/>
                </a:solidFill>
                <a:effectLst/>
                <a:latin typeface="+mn-lt"/>
                <a:ea typeface="+mn-ea"/>
                <a:cs typeface="+mn-cs"/>
              </a:rPr>
              <a:t>Composite</a:t>
            </a:r>
            <a:r>
              <a:rPr lang="sk-SK" sz="1200" kern="1200" dirty="0">
                <a:solidFill>
                  <a:schemeClr val="tx1"/>
                </a:solidFill>
                <a:effectLst/>
                <a:latin typeface="+mn-lt"/>
                <a:ea typeface="+mn-ea"/>
                <a:cs typeface="+mn-cs"/>
              </a:rPr>
              <a:t>, pričom chýba podrobná analýza konkrétnych firiem naprieč USA, Európou a Čínou. Taktiež spoľahlivosť zdrojov denných cien je dosť neprebádané teritórium. Vyhodnotenie výsledkov a porovnanie rôznych zdrojov dát preto prinesie nové poznatky užitočné pre budúci výskum.</a:t>
            </a:r>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3</a:t>
            </a:fld>
            <a:endParaRPr lang="sk-SK"/>
          </a:p>
        </p:txBody>
      </p:sp>
    </p:spTree>
    <p:extLst>
      <p:ext uri="{BB962C8B-B14F-4D97-AF65-F5344CB8AC3E}">
        <p14:creationId xmlns:p14="http://schemas.microsoft.com/office/powerpoint/2010/main" val="635978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Z analýzy je zrejmé, že obdobie pandémie viedlo k zvýšenej volatilite trhov, pričom dynamika volatility sa medzi trhmi líši. </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4</a:t>
            </a:fld>
            <a:endParaRPr lang="sk-SK"/>
          </a:p>
        </p:txBody>
      </p:sp>
    </p:spTree>
    <p:extLst>
      <p:ext uri="{BB962C8B-B14F-4D97-AF65-F5344CB8AC3E}">
        <p14:creationId xmlns:p14="http://schemas.microsoft.com/office/powerpoint/2010/main" val="5284118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Podrobnejšie popísať navrhovanú metodiku výskumu.</a:t>
            </a:r>
          </a:p>
          <a:p>
            <a:endParaRPr lang="sk-SK" dirty="0"/>
          </a:p>
          <a:p>
            <a:r>
              <a:rPr lang="sk-SK" dirty="0"/>
              <a:t>Spomenúť:</a:t>
            </a:r>
          </a:p>
          <a:p>
            <a:r>
              <a:rPr lang="sk-SK" sz="1200" kern="1200" dirty="0">
                <a:solidFill>
                  <a:schemeClr val="tx1"/>
                </a:solidFill>
                <a:effectLst/>
                <a:latin typeface="+mn-lt"/>
                <a:ea typeface="+mn-ea"/>
                <a:cs typeface="+mn-cs"/>
              </a:rPr>
              <a:t>„Dáta budú transformované na logaritmické výnosy a následne budú analyzované ich vlastnosti ako </a:t>
            </a:r>
            <a:r>
              <a:rPr lang="sk-SK" sz="1200" kern="1200" dirty="0" err="1">
                <a:solidFill>
                  <a:schemeClr val="tx1"/>
                </a:solidFill>
                <a:effectLst/>
                <a:latin typeface="+mn-lt"/>
                <a:ea typeface="+mn-ea"/>
                <a:cs typeface="+mn-cs"/>
              </a:rPr>
              <a:t>stacionarita</a:t>
            </a:r>
            <a:r>
              <a:rPr lang="sk-SK" sz="1200" kern="1200" dirty="0">
                <a:solidFill>
                  <a:schemeClr val="tx1"/>
                </a:solidFill>
                <a:effectLst/>
                <a:latin typeface="+mn-lt"/>
                <a:ea typeface="+mn-ea"/>
                <a:cs typeface="+mn-cs"/>
              </a:rPr>
              <a:t>, </a:t>
            </a:r>
            <a:r>
              <a:rPr lang="sk-SK" sz="1200" kern="1200" dirty="0" err="1">
                <a:solidFill>
                  <a:schemeClr val="tx1"/>
                </a:solidFill>
                <a:effectLst/>
                <a:latin typeface="+mn-lt"/>
                <a:ea typeface="+mn-ea"/>
                <a:cs typeface="+mn-cs"/>
              </a:rPr>
              <a:t>autokorelácia</a:t>
            </a:r>
            <a:r>
              <a:rPr lang="sk-SK" sz="1200" kern="1200" dirty="0">
                <a:solidFill>
                  <a:schemeClr val="tx1"/>
                </a:solidFill>
                <a:effectLst/>
                <a:latin typeface="+mn-lt"/>
                <a:ea typeface="+mn-ea"/>
                <a:cs typeface="+mn-cs"/>
              </a:rPr>
              <a:t> a </a:t>
            </a:r>
            <a:r>
              <a:rPr lang="sk-SK" sz="1200" kern="1200" dirty="0" err="1">
                <a:solidFill>
                  <a:schemeClr val="tx1"/>
                </a:solidFill>
                <a:effectLst/>
                <a:latin typeface="+mn-lt"/>
                <a:ea typeface="+mn-ea"/>
                <a:cs typeface="+mn-cs"/>
              </a:rPr>
              <a:t>heteroskedasticita</a:t>
            </a:r>
            <a:r>
              <a:rPr lang="sk-SK" sz="1200" kern="1200" dirty="0">
                <a:solidFill>
                  <a:schemeClr val="tx1"/>
                </a:solidFill>
                <a:effectLst/>
                <a:latin typeface="+mn-lt"/>
                <a:ea typeface="+mn-ea"/>
                <a:cs typeface="+mn-cs"/>
              </a:rPr>
              <a:t>.</a:t>
            </a:r>
          </a:p>
          <a:p>
            <a:r>
              <a:rPr lang="sk-SK" sz="1200" kern="1200" dirty="0">
                <a:solidFill>
                  <a:schemeClr val="tx1"/>
                </a:solidFill>
                <a:effectLst/>
                <a:latin typeface="+mn-lt"/>
                <a:ea typeface="+mn-ea"/>
                <a:cs typeface="+mn-cs"/>
              </a:rPr>
              <a:t>Takto predspracované dáta budú ďalej vhodné ako vstup pre ekonometrické modely a metódy umelej inteligencie.“</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Logaritmick</a:t>
            </a:r>
            <a:r>
              <a:rPr lang="sk-SK" sz="1200" kern="1200" dirty="0">
                <a:solidFill>
                  <a:schemeClr val="tx1"/>
                </a:solidFill>
                <a:effectLst/>
                <a:latin typeface="+mn-lt"/>
                <a:ea typeface="+mn-ea"/>
                <a:cs typeface="+mn-cs"/>
              </a:rPr>
              <a:t>é výnosy sú: </a:t>
            </a:r>
            <a:r>
              <a:rPr lang="sk-SK" sz="1200" kern="1200" dirty="0" err="1">
                <a:solidFill>
                  <a:schemeClr val="tx1"/>
                </a:solidFill>
                <a:effectLst/>
                <a:latin typeface="+mn-lt"/>
                <a:ea typeface="+mn-ea"/>
                <a:cs typeface="+mn-cs"/>
              </a:rPr>
              <a:t>ln</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CLOSEt</a:t>
            </a:r>
            <a:r>
              <a:rPr lang="en-US" sz="1200" kern="1200" dirty="0">
                <a:solidFill>
                  <a:schemeClr val="tx1"/>
                </a:solidFill>
                <a:effectLst/>
                <a:latin typeface="+mn-lt"/>
                <a:ea typeface="+mn-ea"/>
                <a:cs typeface="+mn-cs"/>
              </a:rPr>
              <a:t>) - ln(CLOSEt-1)</a:t>
            </a:r>
            <a:endParaRPr lang="sk-SK"/>
          </a:p>
          <a:p>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5</a:t>
            </a:fld>
            <a:endParaRPr lang="sk-SK"/>
          </a:p>
        </p:txBody>
      </p:sp>
    </p:spTree>
    <p:extLst>
      <p:ext uri="{BB962C8B-B14F-4D97-AF65-F5344CB8AC3E}">
        <p14:creationId xmlns:p14="http://schemas.microsoft.com/office/powerpoint/2010/main" val="433587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získanie dát firiem, rozdelenie do sektorov a porovnanie zdrojov dát. Uviesť rozdelenie na základe období.</a:t>
            </a:r>
          </a:p>
          <a:p>
            <a:endParaRPr lang="sk-SK" dirty="0"/>
          </a:p>
          <a:p>
            <a:r>
              <a:rPr lang="sk-SK" dirty="0"/>
              <a:t>Vybraná firma musí mať denné dáta počas celého obdobia, neobsahuje veľa chýbajúcich dát a patrí medzi veľké firmy s vysokou likviditou. Firmy budú vybrané naprieč viacerými sektormi, napríklad: IT, Financie, Priemysel, Spotrebný tovar, Energie, Zdravotníctvo. Firmy budú taktiež zvolené na základe obsiahnutia v globálnych trhových indexoch ako SP500, STOXX600 a SSE </a:t>
            </a:r>
            <a:r>
              <a:rPr lang="sk-SK" dirty="0" err="1"/>
              <a:t>Composite</a:t>
            </a:r>
            <a:r>
              <a:rPr lang="sk-SK" dirty="0"/>
              <a:t>.</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6</a:t>
            </a:fld>
            <a:endParaRPr lang="sk-SK"/>
          </a:p>
        </p:txBody>
      </p:sp>
    </p:spTree>
    <p:extLst>
      <p:ext uri="{BB962C8B-B14F-4D97-AF65-F5344CB8AC3E}">
        <p14:creationId xmlns:p14="http://schemas.microsoft.com/office/powerpoint/2010/main" val="328793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jednotlivé ekonometrické modely a vybrané modely strojového učenia. Vysvetliť voľbu </a:t>
            </a:r>
            <a:r>
              <a:rPr lang="sk-SK" dirty="0" err="1"/>
              <a:t>rolling-window</a:t>
            </a:r>
            <a:r>
              <a:rPr lang="sk-SK" dirty="0"/>
              <a:t> prístupu.</a:t>
            </a:r>
          </a:p>
          <a:p>
            <a:endParaRPr lang="sk-SK" dirty="0"/>
          </a:p>
          <a:p>
            <a:r>
              <a:rPr lang="sk-SK" dirty="0"/>
              <a:t>Modely:</a:t>
            </a:r>
          </a:p>
          <a:p>
            <a:r>
              <a:rPr lang="sk-SK" dirty="0"/>
              <a:t>GARCH modeluje očakávanú volatilitu v čase na základe minulých šokov a hodnôt volatility. V podstate modeluje na základe „pamäti“ volatility.</a:t>
            </a:r>
          </a:p>
          <a:p>
            <a:r>
              <a:rPr lang="sk-SK" dirty="0"/>
              <a:t>GJR-GARCH je rozšírenie GARCH modelu, ktorý dokáže zachytiť asymetriu volatility. To je zásadné pretože vo všeobecnosti platí, že vysoká volatilita ovplyvňuje trh viac ako nízka volatilita.</a:t>
            </a:r>
          </a:p>
          <a:p>
            <a:r>
              <a:rPr lang="sk-SK" dirty="0"/>
              <a:t>HAR model je </a:t>
            </a:r>
            <a:r>
              <a:rPr lang="sk-SK" dirty="0" err="1"/>
              <a:t>autoregresívny</a:t>
            </a:r>
            <a:r>
              <a:rPr lang="sk-SK" dirty="0"/>
              <a:t> model volatility, ktorý pracuje s predikciou realizovanej volatility. Je ľahko interpretovateľný.</a:t>
            </a:r>
          </a:p>
          <a:p>
            <a:r>
              <a:rPr lang="sk-SK" dirty="0" err="1"/>
              <a:t>XGBoost</a:t>
            </a:r>
            <a:r>
              <a:rPr lang="sk-SK" dirty="0"/>
              <a:t> alebo </a:t>
            </a:r>
            <a:r>
              <a:rPr lang="sk-SK" dirty="0" err="1"/>
              <a:t>Extreme</a:t>
            </a:r>
            <a:r>
              <a:rPr lang="sk-SK" dirty="0"/>
              <a:t> Gradient </a:t>
            </a:r>
            <a:r>
              <a:rPr lang="sk-SK" dirty="0" err="1"/>
              <a:t>Boosting</a:t>
            </a:r>
            <a:r>
              <a:rPr lang="sk-SK" dirty="0"/>
              <a:t> je model strojového učenia založený na rozhodovacích stromoch, ktorý dokáže zachytiť nelineárne vzťahy medzi premennými. Dokáže určiť dôležitosť jednotlivých premenných.</a:t>
            </a:r>
          </a:p>
          <a:p>
            <a:r>
              <a:rPr lang="sk-SK" dirty="0"/>
              <a:t>LSTM je </a:t>
            </a:r>
            <a:r>
              <a:rPr lang="sk-SK" dirty="0" err="1"/>
              <a:t>rekurentná</a:t>
            </a:r>
            <a:r>
              <a:rPr lang="sk-SK" dirty="0"/>
              <a:t> neurónová sieť založená na sekvenčné dáta. Na základe predchádzajúcich dát volatility dokáže predikovať budúcu volatilitu.</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7</a:t>
            </a:fld>
            <a:endParaRPr lang="sk-SK"/>
          </a:p>
        </p:txBody>
      </p:sp>
    </p:spTree>
    <p:extLst>
      <p:ext uri="{BB962C8B-B14F-4D97-AF65-F5344CB8AC3E}">
        <p14:creationId xmlns:p14="http://schemas.microsoft.com/office/powerpoint/2010/main" val="17442402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en-US" dirty="0"/>
              <a:t>Vy</a:t>
            </a:r>
            <a:r>
              <a:rPr lang="sk-SK" dirty="0"/>
              <a:t>svetliť metriky a spôsob vyhodnotenia.</a:t>
            </a:r>
          </a:p>
          <a:p>
            <a:endParaRPr lang="sk-SK" dirty="0"/>
          </a:p>
          <a:p>
            <a:r>
              <a:rPr lang="sk-SK" dirty="0"/>
              <a:t>Metriky:</a:t>
            </a:r>
          </a:p>
          <a:p>
            <a:r>
              <a:rPr lang="sk-SK" dirty="0"/>
              <a:t>RMSE alebo </a:t>
            </a:r>
            <a:r>
              <a:rPr lang="sk-SK" dirty="0" err="1"/>
              <a:t>Root</a:t>
            </a:r>
            <a:r>
              <a:rPr lang="sk-SK" dirty="0"/>
              <a:t> </a:t>
            </a:r>
            <a:r>
              <a:rPr lang="sk-SK" dirty="0" err="1"/>
              <a:t>Mean</a:t>
            </a:r>
            <a:r>
              <a:rPr lang="sk-SK" dirty="0"/>
              <a:t> </a:t>
            </a:r>
            <a:r>
              <a:rPr lang="sk-SK" dirty="0" err="1"/>
              <a:t>Squared</a:t>
            </a:r>
            <a:r>
              <a:rPr lang="sk-SK" dirty="0"/>
              <a:t> </a:t>
            </a:r>
            <a:r>
              <a:rPr lang="sk-SK" dirty="0" err="1"/>
              <a:t>Error</a:t>
            </a:r>
            <a:r>
              <a:rPr lang="sk-SK" dirty="0"/>
              <a:t> je odmocnina priemernej štvorcovej chyby. Meria priemernú chybu modelu pričom veľké chyby trestá silnejšie.</a:t>
            </a:r>
          </a:p>
          <a:p>
            <a:r>
              <a:rPr lang="sk-SK" dirty="0"/>
              <a:t>QLIKE sleduje pomer medzi skutočnou a predikovanou </a:t>
            </a:r>
            <a:r>
              <a:rPr lang="sk-SK" dirty="0" err="1"/>
              <a:t>varianciou</a:t>
            </a:r>
            <a:r>
              <a:rPr lang="sk-SK" dirty="0"/>
              <a:t>, pričom rovnako ako RMSE výrazne trestá veľké odchýlky.</a:t>
            </a:r>
          </a:p>
          <a:p>
            <a:endParaRPr lang="sk-SK" dirty="0"/>
          </a:p>
          <a:p>
            <a:r>
              <a:rPr lang="sk-SK" dirty="0"/>
              <a:t>Porovnanie správania volatility:</a:t>
            </a:r>
          </a:p>
          <a:p>
            <a:r>
              <a:rPr lang="sk-SK" dirty="0"/>
              <a:t>- priemerná volatilita,</a:t>
            </a:r>
          </a:p>
          <a:p>
            <a:r>
              <a:rPr lang="sk-SK" dirty="0"/>
              <a:t>- maximálna volatilita,</a:t>
            </a:r>
          </a:p>
          <a:p>
            <a:r>
              <a:rPr lang="sk-SK" dirty="0"/>
              <a:t>- </a:t>
            </a:r>
            <a:r>
              <a:rPr lang="sk-SK" dirty="0" err="1"/>
              <a:t>perzistencia</a:t>
            </a:r>
            <a:r>
              <a:rPr lang="sk-SK" dirty="0"/>
              <a:t> volatility,</a:t>
            </a:r>
          </a:p>
          <a:p>
            <a:r>
              <a:rPr lang="sk-SK" dirty="0"/>
              <a:t>- presnosť modelov,</a:t>
            </a:r>
          </a:p>
          <a:p>
            <a:pPr marL="0" indent="0">
              <a:buFontTx/>
              <a:buNone/>
            </a:pPr>
            <a:r>
              <a:rPr lang="sk-SK" dirty="0"/>
              <a:t>- identifikácia najdôležitejších vstupných premenných</a:t>
            </a:r>
          </a:p>
          <a:p>
            <a:pPr marL="0" indent="0">
              <a:buFontTx/>
              <a:buNone/>
            </a:pPr>
            <a:endParaRPr lang="sk-SK" dirty="0"/>
          </a:p>
          <a:p>
            <a:pPr marL="0" indent="0">
              <a:buFontTx/>
              <a:buNone/>
            </a:pPr>
            <a:r>
              <a:rPr lang="sk-SK" dirty="0"/>
              <a:t>Identifikácia vplyvu geopolitických šokov na volatilitu bude robená porovnaním spomínaných časových období, s dôrazom na pandémiu COVID-19.</a:t>
            </a:r>
          </a:p>
          <a:p>
            <a:pPr marL="0" indent="0">
              <a:buFontTx/>
              <a:buNone/>
            </a:pPr>
            <a:r>
              <a:rPr lang="sk-SK" dirty="0"/>
              <a:t>Identifikácia faktorov vplývajúcich na volatilitu trhov bude robená cez dostupné vyhlásenia, vyjadrenia politických predstaviteľov, alebo stanoviská konkrétnych firiem.</a:t>
            </a:r>
          </a:p>
          <a:p>
            <a:pPr marL="0" indent="0">
              <a:buFontTx/>
              <a:buNone/>
            </a:pPr>
            <a:endParaRPr lang="sk-SK" dirty="0"/>
          </a:p>
          <a:p>
            <a:pPr marL="0" indent="0">
              <a:buFontTx/>
              <a:buNone/>
            </a:pPr>
            <a:r>
              <a:rPr lang="sk-SK" dirty="0"/>
              <a:t>Výsledkom výskumu bude nielen definovaná metodiky na spracovanie časových radov, ale aj identifikované vzory v časových radoch indexov akcií, faktory vplývajúce na volatilitu trhov, porovnanie ekonometrických modelov a modelov strojového a hlbokého učenia a dôkaz o robustnosti výsledkov naprieč rôznymi zdrojmi dát. </a:t>
            </a:r>
          </a:p>
          <a:p>
            <a:pPr marL="0" indent="0">
              <a:buFontTx/>
              <a:buNone/>
            </a:pPr>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8</a:t>
            </a:fld>
            <a:endParaRPr lang="sk-SK"/>
          </a:p>
        </p:txBody>
      </p:sp>
    </p:spTree>
    <p:extLst>
      <p:ext uri="{BB962C8B-B14F-4D97-AF65-F5344CB8AC3E}">
        <p14:creationId xmlns:p14="http://schemas.microsoft.com/office/powerpoint/2010/main" val="12254142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Úvodná snímk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576072" y="1124712"/>
            <a:ext cx="11036808" cy="3172968"/>
          </a:xfrm>
        </p:spPr>
        <p:txBody>
          <a:bodyPr anchor="b">
            <a:normAutofit/>
          </a:bodyPr>
          <a:lstStyle>
            <a:lvl1pPr algn="l">
              <a:defRPr sz="8000"/>
            </a:lvl1pPr>
          </a:lstStyle>
          <a:p>
            <a:r>
              <a:rPr lang="sk-SK"/>
              <a:t>Kliknutím upravte štýl predlohy nadpisu</a:t>
            </a:r>
            <a:endParaRPr lang="en-US" dirty="0"/>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576072" y="4727448"/>
            <a:ext cx="11036808" cy="1481328"/>
          </a:xfrm>
        </p:spPr>
        <p:txBody>
          <a:bodyPr>
            <a:normAutofit/>
          </a:bodyPr>
          <a:lstStyle>
            <a:lvl1pPr marL="0" indent="0" algn="l">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k-SK"/>
              <a:t>Kliknutím upravte štýl predlohy podnadpisu</a:t>
            </a:r>
            <a:endParaRPr lang="en-US" dirty="0"/>
          </a:p>
        </p:txBody>
      </p:sp>
      <p:sp>
        <p:nvSpPr>
          <p:cNvPr id="4" name="Date Placeholder 3">
            <a:extLst>
              <a:ext uri="{FF2B5EF4-FFF2-40B4-BE49-F238E27FC236}">
                <a16:creationId xmlns:a16="http://schemas.microsoft.com/office/drawing/2014/main" id="{1B9FF558-51F9-42A2-9944-DBE23DA8B224}"/>
              </a:ext>
            </a:extLst>
          </p:cNvPr>
          <p:cNvSpPr>
            <a:spLocks noGrp="1"/>
          </p:cNvSpPr>
          <p:nvPr>
            <p:ph type="dt" sz="half" idx="10"/>
          </p:nvPr>
        </p:nvSpPr>
        <p:spPr>
          <a:xfrm>
            <a:off x="576072" y="6356350"/>
            <a:ext cx="2743200" cy="365125"/>
          </a:xfrm>
        </p:spPr>
        <p:txBody>
          <a:bodyPr/>
          <a:lstStyle/>
          <a:p>
            <a:fld id="{02AC24A9-CCB6-4F8D-B8DB-C2F3692CFA5A}" type="datetimeFigureOut">
              <a:rPr lang="en-US" smtClean="0"/>
              <a:t>6/25/2026</a:t>
            </a:fld>
            <a:endParaRPr lang="en-US" dirty="0"/>
          </a:p>
        </p:txBody>
      </p:sp>
      <p:sp>
        <p:nvSpPr>
          <p:cNvPr id="5" name="Footer Placeholder 4">
            <a:extLst>
              <a:ext uri="{FF2B5EF4-FFF2-40B4-BE49-F238E27FC236}">
                <a16:creationId xmlns:a16="http://schemas.microsoft.com/office/drawing/2014/main" id="{8B8C0E86-A7F7-4BDC-A637-254E5252D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3D10ADE-E9DA-4E57-BF57-1CCB65219839}"/>
              </a:ext>
            </a:extLst>
          </p:cNvPr>
          <p:cNvSpPr>
            <a:spLocks noGrp="1"/>
          </p:cNvSpPr>
          <p:nvPr>
            <p:ph type="sldNum" sz="quarter" idx="12"/>
          </p:nvPr>
        </p:nvSpPr>
        <p:spPr>
          <a:xfrm>
            <a:off x="8869680" y="6356350"/>
            <a:ext cx="2743200" cy="365125"/>
          </a:xfrm>
        </p:spPr>
        <p:txBody>
          <a:bodyPr/>
          <a:lstStyle/>
          <a:p>
            <a:fld id="{B2DC25EE-239B-4C5F-AAD1-255A7D5F1EE2}" type="slidenum">
              <a:rPr lang="en-US" smtClean="0"/>
              <a:t>‹#›</a:t>
            </a:fld>
            <a:endParaRPr lang="en-US" dirty="0"/>
          </a:p>
        </p:txBody>
      </p:sp>
      <p:sp>
        <p:nvSpPr>
          <p:cNvPr id="8" name="Rectangle 7">
            <a:extLst>
              <a:ext uri="{FF2B5EF4-FFF2-40B4-BE49-F238E27FC236}">
                <a16:creationId xmlns:a16="http://schemas.microsoft.com/office/drawing/2014/main" id="{8D06CE56-3881-4ADA-8CEF-D18B02C242A3}"/>
              </a:ext>
            </a:extLst>
          </p:cNvPr>
          <p:cNvSpPr/>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79F3C543-62EC-4433-9C93-A2CD8764E9B4}"/>
              </a:ext>
            </a:extLst>
          </p:cNvPr>
          <p:cNvSpPr/>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400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0" name="Rectangle 9">
            <a:extLst>
              <a:ext uri="{FF2B5EF4-FFF2-40B4-BE49-F238E27FC236}">
                <a16:creationId xmlns:a16="http://schemas.microsoft.com/office/drawing/2014/main" id="{04727B71-B4B6-4823-80A1-68C40B475118}"/>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6/25/2026</a:t>
            </a:fld>
            <a:endParaRPr lang="en-US" dirty="0"/>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670952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Hlavička sekcie">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AEDC5C-2E87-49C6-AB07-A95E5F39ED8E}"/>
              </a:ext>
            </a:extLst>
          </p:cNvPr>
          <p:cNvSpPr/>
          <p:nvPr/>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57D88DE-E462-4C8A-BF99-609390DFB781}"/>
              </a:ext>
            </a:extLst>
          </p:cNvPr>
          <p:cNvSpPr/>
          <p:nvPr/>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b">
            <a:normAutofit/>
          </a:bodyPr>
          <a:lstStyle>
            <a:lvl1pPr>
              <a:defRPr sz="6600"/>
            </a:lvl1p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p:spPr>
        <p:txBody>
          <a:bodyPr anchor="ct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sk-SK"/>
              <a:t>Kliknite sem a upravte štýly predlohy textu</a:t>
            </a:r>
          </a:p>
        </p:txBody>
      </p:sp>
      <p:sp>
        <p:nvSpPr>
          <p:cNvPr id="4" name="Date Placeholder 3">
            <a:extLst>
              <a:ext uri="{FF2B5EF4-FFF2-40B4-BE49-F238E27FC236}">
                <a16:creationId xmlns:a16="http://schemas.microsoft.com/office/drawing/2014/main" id="{D48BFA7D-4401-4285-802B-1579165F0D6D}"/>
              </a:ext>
            </a:extLst>
          </p:cNvPr>
          <p:cNvSpPr>
            <a:spLocks noGrp="1"/>
          </p:cNvSpPr>
          <p:nvPr>
            <p:ph type="dt" sz="half" idx="10"/>
          </p:nvPr>
        </p:nvSpPr>
        <p:spPr/>
        <p:txBody>
          <a:bodyPr/>
          <a:lstStyle/>
          <a:p>
            <a:fld id="{02AC24A9-CCB6-4F8D-B8DB-C2F3692CFA5A}" type="datetimeFigureOut">
              <a:rPr lang="en-US" smtClean="0"/>
              <a:t>6/25/2026</a:t>
            </a:fld>
            <a:endParaRPr lang="en-US" dirty="0"/>
          </a:p>
        </p:txBody>
      </p:sp>
      <p:sp>
        <p:nvSpPr>
          <p:cNvPr id="5" name="Footer Placeholder 4">
            <a:extLst>
              <a:ext uri="{FF2B5EF4-FFF2-40B4-BE49-F238E27FC236}">
                <a16:creationId xmlns:a16="http://schemas.microsoft.com/office/drawing/2014/main" id="{49A909C5-AA19-4195-8376-9002D5DF465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3AC3F32-46E0-47C8-8565-5969A475FDB0}"/>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95783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76262E-36A0-40C6-ADE6-90CD9FB9B9EA}"/>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42677A9B-4D1D-4D80-912C-24570140A650}"/>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03DC8C98-510F-48C9-82B2-9E4F760A68DF}"/>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7A078AE-0BC3-48F9-87EC-2DB0CCE7E2AE}"/>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292A20DF-0829-4336-B59F-FF9D7AA9D8B6}"/>
              </a:ext>
            </a:extLst>
          </p:cNvPr>
          <p:cNvSpPr>
            <a:spLocks noGrp="1"/>
          </p:cNvSpPr>
          <p:nvPr>
            <p:ph sz="half" idx="1"/>
          </p:nvPr>
        </p:nvSpPr>
        <p:spPr>
          <a:xfrm>
            <a:off x="1115568" y="2478024"/>
            <a:ext cx="4937760"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Content Placeholder 3">
            <a:extLst>
              <a:ext uri="{FF2B5EF4-FFF2-40B4-BE49-F238E27FC236}">
                <a16:creationId xmlns:a16="http://schemas.microsoft.com/office/drawing/2014/main" id="{7935D01C-CF67-4DF6-B96C-FFC9D5BF847B}"/>
              </a:ext>
            </a:extLst>
          </p:cNvPr>
          <p:cNvSpPr>
            <a:spLocks noGrp="1"/>
          </p:cNvSpPr>
          <p:nvPr>
            <p:ph sz="half" idx="2"/>
          </p:nvPr>
        </p:nvSpPr>
        <p:spPr>
          <a:xfrm>
            <a:off x="6345936" y="2478024"/>
            <a:ext cx="4937760"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Date Placeholder 4">
            <a:extLst>
              <a:ext uri="{FF2B5EF4-FFF2-40B4-BE49-F238E27FC236}">
                <a16:creationId xmlns:a16="http://schemas.microsoft.com/office/drawing/2014/main" id="{29BBD797-6031-4F82-8726-EAB757027FF5}"/>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6/25/2026</a:t>
            </a:fld>
            <a:endParaRPr lang="en-US" dirty="0"/>
          </a:p>
        </p:txBody>
      </p:sp>
      <p:sp>
        <p:nvSpPr>
          <p:cNvPr id="6" name="Footer Placeholder 5">
            <a:extLst>
              <a:ext uri="{FF2B5EF4-FFF2-40B4-BE49-F238E27FC236}">
                <a16:creationId xmlns:a16="http://schemas.microsoft.com/office/drawing/2014/main" id="{76B3F71C-B897-4909-A75E-8716AD49C1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F78BC14-5BB1-405F-A6F3-C07230F085C8}"/>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599278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ovnanie">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299500CE-917A-4D03-A7DF-71D8EBBC1537}"/>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defRPr sz="2400"/>
            </a:lvl1pPr>
            <a:lvl2pPr>
              <a:defRPr sz="2000"/>
            </a:lvl2pPr>
            <a:lvl3pPr>
              <a:defRPr sz="1800"/>
            </a:lvl3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defRPr sz="2400"/>
            </a:lvl1pPr>
            <a:lvl2pPr>
              <a:defRPr sz="2000"/>
            </a:lvl2pPr>
            <a:lvl3pPr>
              <a:defRPr sz="1800"/>
            </a:lvl3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6/25/2026</a:t>
            </a:fld>
            <a:endParaRPr lang="en-US" dirty="0"/>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445617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Len nadpis">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sk-SK"/>
              <a:t>Kliknutím upravte štýl predlohy nadpisu</a:t>
            </a:r>
            <a:endParaRPr lang="en-US" dirty="0"/>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fld id="{02AC24A9-CCB6-4F8D-B8DB-C2F3692CFA5A}" type="datetimeFigureOut">
              <a:rPr lang="en-US" smtClean="0"/>
              <a:t>6/25/2026</a:t>
            </a:fld>
            <a:endParaRPr lang="en-US" dirty="0"/>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37701615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rázdna">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fld id="{02AC24A9-CCB6-4F8D-B8DB-C2F3692CFA5A}" type="datetimeFigureOut">
              <a:rPr lang="en-US" smtClean="0"/>
              <a:t>6/25/2026</a:t>
            </a:fld>
            <a:endParaRPr lang="en-US" dirty="0"/>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15314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Obsah s popiso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k-SK"/>
              <a:t>Kliknite sem a upravte štýly predlohy textu</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6/25/2026</a:t>
            </a:fld>
            <a:endParaRPr lang="en-US" dirty="0"/>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601592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ázok s popiso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sk-SK"/>
              <a:t>Kliknutím upravte štýl predlohy nadpisu</a:t>
            </a:r>
            <a:endParaRPr lang="en-US" dirty="0"/>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sk-SK" dirty="0"/>
              <a:t>Kliknutím na ikonu pridáte obrázok</a:t>
            </a:r>
            <a:endParaRPr lang="en-US" dirty="0"/>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k-SK"/>
              <a:t>Kliknite sem a upravte štýly predlohy textu</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6/25/2026</a:t>
            </a:fld>
            <a:endParaRPr lang="en-US" dirty="0"/>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36740892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Nadpis a zvislý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32C18-E430-4EC7-BD7C-99D86D012231}"/>
              </a:ext>
            </a:extLst>
          </p:cNvPr>
          <p:cNvSpPr>
            <a:spLocks noGrp="1"/>
          </p:cNvSpPr>
          <p:nvPr>
            <p:ph type="title"/>
          </p:nvPr>
        </p:nvSpPr>
        <p:spPr/>
        <p:txBody>
          <a:bodyPr/>
          <a:lstStyle/>
          <a:p>
            <a:r>
              <a:rPr lang="sk-SK"/>
              <a:t>Kliknutím upravte štýl predlohy nadpisu</a:t>
            </a:r>
            <a:endParaRPr lang="en-US" dirty="0"/>
          </a:p>
        </p:txBody>
      </p:sp>
      <p:sp>
        <p:nvSpPr>
          <p:cNvPr id="3" name="Vertical Text Placeholder 2">
            <a:extLst>
              <a:ext uri="{FF2B5EF4-FFF2-40B4-BE49-F238E27FC236}">
                <a16:creationId xmlns:a16="http://schemas.microsoft.com/office/drawing/2014/main" id="{8FC5012F-7119-4D94-9717-3862E1C9384E}"/>
              </a:ext>
            </a:extLst>
          </p:cNvPr>
          <p:cNvSpPr>
            <a:spLocks noGrp="1"/>
          </p:cNvSpPr>
          <p:nvPr>
            <p:ph type="body" orient="vert" idx="1"/>
          </p:nvPr>
        </p:nvSpPr>
        <p:spPr/>
        <p:txBody>
          <a:bodyPr vert="eaVert"/>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a:p>
        </p:txBody>
      </p:sp>
      <p:sp>
        <p:nvSpPr>
          <p:cNvPr id="4" name="Date Placeholder 3">
            <a:extLst>
              <a:ext uri="{FF2B5EF4-FFF2-40B4-BE49-F238E27FC236}">
                <a16:creationId xmlns:a16="http://schemas.microsoft.com/office/drawing/2014/main" id="{19ED9A4A-D287-4207-9037-70DB007A1707}"/>
              </a:ext>
            </a:extLst>
          </p:cNvPr>
          <p:cNvSpPr>
            <a:spLocks noGrp="1"/>
          </p:cNvSpPr>
          <p:nvPr>
            <p:ph type="dt" sz="half" idx="10"/>
          </p:nvPr>
        </p:nvSpPr>
        <p:spPr/>
        <p:txBody>
          <a:bodyPr/>
          <a:lstStyle/>
          <a:p>
            <a:fld id="{02AC24A9-CCB6-4F8D-B8DB-C2F3692CFA5A}" type="datetimeFigureOut">
              <a:rPr lang="en-US" smtClean="0"/>
              <a:t>6/25/2026</a:t>
            </a:fld>
            <a:endParaRPr lang="en-US" dirty="0"/>
          </a:p>
        </p:txBody>
      </p:sp>
      <p:sp>
        <p:nvSpPr>
          <p:cNvPr id="5" name="Footer Placeholder 4">
            <a:extLst>
              <a:ext uri="{FF2B5EF4-FFF2-40B4-BE49-F238E27FC236}">
                <a16:creationId xmlns:a16="http://schemas.microsoft.com/office/drawing/2014/main" id="{61ECFCAC-80DB-43BB-B3F1-AC22BACEE36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7679730-3487-4D94-A0DC-C21684963AB3}"/>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0424881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Zvislý nadpis a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3C89D-929E-4CD1-BCCC-72A14C0335D6}"/>
              </a:ext>
            </a:extLst>
          </p:cNvPr>
          <p:cNvSpPr>
            <a:spLocks noGrp="1"/>
          </p:cNvSpPr>
          <p:nvPr>
            <p:ph type="title" orient="vert"/>
          </p:nvPr>
        </p:nvSpPr>
        <p:spPr>
          <a:xfrm>
            <a:off x="8724900" y="365125"/>
            <a:ext cx="2628900" cy="5811838"/>
          </a:xfrm>
        </p:spPr>
        <p:txBody>
          <a:bodyPr vert="eaVert"/>
          <a:lstStyle/>
          <a:p>
            <a:r>
              <a:rPr lang="sk-SK"/>
              <a:t>Kliknutím upravte štýl predlohy nadpisu</a:t>
            </a:r>
            <a:endParaRPr lang="en-US" dirty="0"/>
          </a:p>
        </p:txBody>
      </p:sp>
      <p:sp>
        <p:nvSpPr>
          <p:cNvPr id="3" name="Vertical Text Placeholder 2">
            <a:extLst>
              <a:ext uri="{FF2B5EF4-FFF2-40B4-BE49-F238E27FC236}">
                <a16:creationId xmlns:a16="http://schemas.microsoft.com/office/drawing/2014/main" id="{FED450EA-A577-4B76-A12F-650BEB20FD8D}"/>
              </a:ext>
            </a:extLst>
          </p:cNvPr>
          <p:cNvSpPr>
            <a:spLocks noGrp="1"/>
          </p:cNvSpPr>
          <p:nvPr>
            <p:ph type="body" orient="vert" idx="1"/>
          </p:nvPr>
        </p:nvSpPr>
        <p:spPr>
          <a:xfrm>
            <a:off x="838200" y="365125"/>
            <a:ext cx="7734300" cy="5811838"/>
          </a:xfrm>
        </p:spPr>
        <p:txBody>
          <a:bodyPr vert="eaVert"/>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a:p>
        </p:txBody>
      </p:sp>
      <p:sp>
        <p:nvSpPr>
          <p:cNvPr id="4" name="Date Placeholder 3">
            <a:extLst>
              <a:ext uri="{FF2B5EF4-FFF2-40B4-BE49-F238E27FC236}">
                <a16:creationId xmlns:a16="http://schemas.microsoft.com/office/drawing/2014/main" id="{41D2603B-9ACE-4FA9-805B-9B91EB63DF7D}"/>
              </a:ext>
            </a:extLst>
          </p:cNvPr>
          <p:cNvSpPr>
            <a:spLocks noGrp="1"/>
          </p:cNvSpPr>
          <p:nvPr>
            <p:ph type="dt" sz="half" idx="10"/>
          </p:nvPr>
        </p:nvSpPr>
        <p:spPr/>
        <p:txBody>
          <a:bodyPr/>
          <a:lstStyle/>
          <a:p>
            <a:fld id="{02AC24A9-CCB6-4F8D-B8DB-C2F3692CFA5A}" type="datetimeFigureOut">
              <a:rPr lang="en-US" smtClean="0"/>
              <a:t>6/25/2026</a:t>
            </a:fld>
            <a:endParaRPr lang="en-US" dirty="0"/>
          </a:p>
        </p:txBody>
      </p:sp>
      <p:sp>
        <p:nvSpPr>
          <p:cNvPr id="5" name="Footer Placeholder 4">
            <a:extLst>
              <a:ext uri="{FF2B5EF4-FFF2-40B4-BE49-F238E27FC236}">
                <a16:creationId xmlns:a16="http://schemas.microsoft.com/office/drawing/2014/main" id="{7ECE18AC-D6A9-4A61-885D-68E2B684A43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5197AE4-AA47-4E14-8FFE-171FAE47F49E}"/>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484083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AC24A9-CCB6-4F8D-B8DB-C2F3692CFA5A}" type="datetimeFigureOut">
              <a:rPr lang="en-US" smtClean="0"/>
              <a:t>6/25/2026</a:t>
            </a:fld>
            <a:endParaRPr lang="en-US" dirty="0"/>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DC25EE-239B-4C5F-AAD1-255A7D5F1EE2}" type="slidenum">
              <a:rPr lang="en-US" smtClean="0"/>
              <a:t>‹#›</a:t>
            </a:fld>
            <a:endParaRPr lang="en-US" dirty="0"/>
          </a:p>
        </p:txBody>
      </p:sp>
    </p:spTree>
    <p:extLst>
      <p:ext uri="{BB962C8B-B14F-4D97-AF65-F5344CB8AC3E}">
        <p14:creationId xmlns:p14="http://schemas.microsoft.com/office/powerpoint/2010/main" val="28933475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00EEC76-6C04-7DBD-4B82-F7DAFC7F1455}"/>
              </a:ext>
            </a:extLst>
          </p:cNvPr>
          <p:cNvSpPr>
            <a:spLocks noGrp="1"/>
          </p:cNvSpPr>
          <p:nvPr>
            <p:ph type="ctrTitle"/>
          </p:nvPr>
        </p:nvSpPr>
        <p:spPr>
          <a:xfrm>
            <a:off x="576072" y="1124712"/>
            <a:ext cx="11036808" cy="2377613"/>
          </a:xfrm>
        </p:spPr>
        <p:txBody>
          <a:bodyPr>
            <a:noAutofit/>
          </a:bodyPr>
          <a:lstStyle/>
          <a:p>
            <a:pPr algn="ctr"/>
            <a:r>
              <a:rPr lang="sk-SK" sz="3200" b="1" dirty="0">
                <a:effectLst>
                  <a:outerShdw blurRad="38100" dist="38100" dir="2700000" algn="tl">
                    <a:srgbClr val="000000">
                      <a:alpha val="43137"/>
                    </a:srgbClr>
                  </a:outerShdw>
                </a:effectLst>
              </a:rPr>
              <a:t>Identifikácia vzorov v časových radoch pre komparáciu volatility akciových trhov USA, Číny a Európy pomocou metód umelej inteligencie</a:t>
            </a:r>
            <a:endParaRPr lang="sk-SK" sz="3200" dirty="0">
              <a:effectLst>
                <a:outerShdw blurRad="38100" dist="38100" dir="2700000" algn="tl">
                  <a:srgbClr val="000000">
                    <a:alpha val="43137"/>
                  </a:srgbClr>
                </a:outerShdw>
              </a:effectLst>
            </a:endParaRPr>
          </a:p>
        </p:txBody>
      </p:sp>
      <p:sp>
        <p:nvSpPr>
          <p:cNvPr id="3" name="Podnadpis 2">
            <a:extLst>
              <a:ext uri="{FF2B5EF4-FFF2-40B4-BE49-F238E27FC236}">
                <a16:creationId xmlns:a16="http://schemas.microsoft.com/office/drawing/2014/main" id="{73B7FBB1-1C45-89A4-1990-BB3A6B5BF82E}"/>
              </a:ext>
            </a:extLst>
          </p:cNvPr>
          <p:cNvSpPr>
            <a:spLocks noGrp="1"/>
          </p:cNvSpPr>
          <p:nvPr>
            <p:ph type="subTitle" idx="1"/>
          </p:nvPr>
        </p:nvSpPr>
        <p:spPr>
          <a:xfrm>
            <a:off x="576072" y="3597215"/>
            <a:ext cx="11036808" cy="2441277"/>
          </a:xfrm>
        </p:spPr>
        <p:txBody>
          <a:bodyPr>
            <a:normAutofit/>
          </a:bodyPr>
          <a:lstStyle/>
          <a:p>
            <a:pPr algn="ctr"/>
            <a:endParaRPr lang="sk-SK" sz="2000" dirty="0"/>
          </a:p>
          <a:p>
            <a:pPr algn="ctr"/>
            <a:r>
              <a:rPr lang="en-US" sz="2000" dirty="0"/>
              <a:t>Koncept dizert</a:t>
            </a:r>
            <a:r>
              <a:rPr lang="sk-SK" sz="2000" dirty="0"/>
              <a:t>ačnej práce</a:t>
            </a:r>
          </a:p>
          <a:p>
            <a:r>
              <a:rPr lang="sk-SK" sz="2000" b="1" dirty="0"/>
              <a:t>doc. PaedDr. </a:t>
            </a:r>
            <a:r>
              <a:rPr lang="sk-SK" sz="2000" dirty="0"/>
              <a:t>Martin Magdin, </a:t>
            </a:r>
            <a:r>
              <a:rPr lang="sk-SK" sz="2000" b="1" dirty="0"/>
              <a:t>PhD.</a:t>
            </a:r>
            <a:r>
              <a:rPr lang="sk-SK" sz="2000" dirty="0"/>
              <a:t>                                                                </a:t>
            </a:r>
            <a:r>
              <a:rPr lang="sk-SK" sz="2000" b="1" dirty="0"/>
              <a:t>Mgr. </a:t>
            </a:r>
            <a:r>
              <a:rPr lang="sk-SK" sz="2000" dirty="0"/>
              <a:t>Matej Lužák, </a:t>
            </a:r>
            <a:r>
              <a:rPr lang="sk-SK" sz="2000" b="1" dirty="0"/>
              <a:t>2026</a:t>
            </a:r>
          </a:p>
        </p:txBody>
      </p:sp>
    </p:spTree>
    <p:extLst>
      <p:ext uri="{BB962C8B-B14F-4D97-AF65-F5344CB8AC3E}">
        <p14:creationId xmlns:p14="http://schemas.microsoft.com/office/powerpoint/2010/main" val="1122261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946FDF28-A91D-1565-DF7F-6B6CFE457BB2}"/>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Ciele výskumu</a:t>
            </a:r>
          </a:p>
        </p:txBody>
      </p:sp>
      <p:sp>
        <p:nvSpPr>
          <p:cNvPr id="3" name="Zástupný objekt pre obsah 2">
            <a:extLst>
              <a:ext uri="{FF2B5EF4-FFF2-40B4-BE49-F238E27FC236}">
                <a16:creationId xmlns:a16="http://schemas.microsoft.com/office/drawing/2014/main" id="{7D7C4D48-130B-F613-8F28-03328973599C}"/>
              </a:ext>
            </a:extLst>
          </p:cNvPr>
          <p:cNvSpPr>
            <a:spLocks noGrp="1"/>
          </p:cNvSpPr>
          <p:nvPr>
            <p:ph idx="1"/>
          </p:nvPr>
        </p:nvSpPr>
        <p:spPr>
          <a:xfrm>
            <a:off x="1115568" y="2286000"/>
            <a:ext cx="10168128" cy="4023360"/>
          </a:xfrm>
        </p:spPr>
        <p:txBody>
          <a:bodyPr>
            <a:normAutofit/>
          </a:bodyPr>
          <a:lstStyle/>
          <a:p>
            <a:pPr marL="0" indent="0">
              <a:buNone/>
            </a:pPr>
            <a:r>
              <a:rPr lang="sk-SK" sz="1800" b="1" dirty="0">
                <a:effectLst>
                  <a:outerShdw blurRad="38100" dist="38100" dir="2700000" algn="tl">
                    <a:srgbClr val="000000">
                      <a:alpha val="43137"/>
                    </a:srgbClr>
                  </a:outerShdw>
                </a:effectLst>
              </a:rPr>
              <a:t>Hlavný cieľ</a:t>
            </a:r>
          </a:p>
          <a:p>
            <a:r>
              <a:rPr lang="sk-SK" sz="1800" dirty="0"/>
              <a:t>Analyzovať a porovnať volatilitu akciových trhov v </a:t>
            </a:r>
            <a:r>
              <a:rPr lang="sk-SK" sz="1800" b="1" dirty="0"/>
              <a:t>USA</a:t>
            </a:r>
            <a:r>
              <a:rPr lang="sk-SK" sz="1800" dirty="0"/>
              <a:t>, </a:t>
            </a:r>
            <a:r>
              <a:rPr lang="sk-SK" sz="1800" b="1" dirty="0"/>
              <a:t>Číne</a:t>
            </a:r>
            <a:r>
              <a:rPr lang="sk-SK" sz="1800" dirty="0"/>
              <a:t> a </a:t>
            </a:r>
            <a:r>
              <a:rPr lang="sk-SK" sz="1800" b="1" dirty="0"/>
              <a:t>Európe</a:t>
            </a:r>
            <a:r>
              <a:rPr lang="sk-SK" sz="1800" dirty="0"/>
              <a:t> v období pred pandémiou </a:t>
            </a:r>
            <a:r>
              <a:rPr lang="sk-SK" sz="1800" b="1" dirty="0"/>
              <a:t>COVID-19</a:t>
            </a:r>
            <a:r>
              <a:rPr lang="sk-SK" sz="1800" dirty="0"/>
              <a:t>, počas nej a v post-covidovom období s využitím metód umelej inteligencie na identifikáciu vzorov v časových radoch. </a:t>
            </a:r>
          </a:p>
          <a:p>
            <a:pPr marL="0" indent="0">
              <a:buNone/>
            </a:pPr>
            <a:r>
              <a:rPr lang="sk-SK" sz="1800" b="1" dirty="0">
                <a:effectLst>
                  <a:outerShdw blurRad="38100" dist="38100" dir="2700000" algn="tl">
                    <a:srgbClr val="000000">
                      <a:alpha val="43137"/>
                    </a:srgbClr>
                  </a:outerShdw>
                </a:effectLst>
              </a:rPr>
              <a:t>Čiastkové ciele</a:t>
            </a:r>
          </a:p>
          <a:p>
            <a:r>
              <a:rPr lang="sk-SK" sz="1800" dirty="0"/>
              <a:t>Získať vhodné časové rady akciových trhov </a:t>
            </a:r>
            <a:r>
              <a:rPr lang="sk-SK" sz="1800" b="1" dirty="0"/>
              <a:t>USA</a:t>
            </a:r>
            <a:r>
              <a:rPr lang="sk-SK" sz="1800" dirty="0"/>
              <a:t>, </a:t>
            </a:r>
            <a:r>
              <a:rPr lang="sk-SK" sz="1800" b="1" dirty="0"/>
              <a:t>Európy</a:t>
            </a:r>
            <a:r>
              <a:rPr lang="sk-SK" sz="1800" dirty="0"/>
              <a:t> a </a:t>
            </a:r>
            <a:r>
              <a:rPr lang="sk-SK" sz="1800" b="1" dirty="0"/>
              <a:t>Číny</a:t>
            </a:r>
            <a:r>
              <a:rPr lang="sk-SK" sz="1800" dirty="0"/>
              <a:t>,</a:t>
            </a:r>
          </a:p>
          <a:p>
            <a:r>
              <a:rPr lang="sk-SK" sz="1800" dirty="0"/>
              <a:t>Predspracovať získané časové rady,</a:t>
            </a:r>
          </a:p>
          <a:p>
            <a:r>
              <a:rPr lang="sk-SK" sz="1800" dirty="0"/>
              <a:t>Zvoliť vhodné metódy na predikciu volatility,</a:t>
            </a:r>
          </a:p>
          <a:p>
            <a:r>
              <a:rPr lang="sk-SK" sz="1800" dirty="0"/>
              <a:t>Natrénovať modely strojového a hlbokého učenia,</a:t>
            </a:r>
          </a:p>
          <a:p>
            <a:r>
              <a:rPr lang="sk-SK" sz="1800" dirty="0"/>
              <a:t>Vyhodnotiť dosiahnuté výsledky.</a:t>
            </a:r>
          </a:p>
        </p:txBody>
      </p:sp>
    </p:spTree>
    <p:extLst>
      <p:ext uri="{BB962C8B-B14F-4D97-AF65-F5344CB8AC3E}">
        <p14:creationId xmlns:p14="http://schemas.microsoft.com/office/powerpoint/2010/main" val="1407985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FF10AEA6-20C5-7F84-4661-BE5DBE2AC4D7}"/>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Očakávané prínosy výskumu</a:t>
            </a:r>
          </a:p>
        </p:txBody>
      </p:sp>
      <p:sp>
        <p:nvSpPr>
          <p:cNvPr id="3" name="Zástupný objekt pre obsah 2">
            <a:extLst>
              <a:ext uri="{FF2B5EF4-FFF2-40B4-BE49-F238E27FC236}">
                <a16:creationId xmlns:a16="http://schemas.microsoft.com/office/drawing/2014/main" id="{1E207072-0098-DFCC-2110-537C30EE2679}"/>
              </a:ext>
            </a:extLst>
          </p:cNvPr>
          <p:cNvSpPr>
            <a:spLocks noGrp="1"/>
          </p:cNvSpPr>
          <p:nvPr>
            <p:ph idx="1"/>
          </p:nvPr>
        </p:nvSpPr>
        <p:spPr>
          <a:xfrm>
            <a:off x="1115568" y="2478023"/>
            <a:ext cx="10650862" cy="3831337"/>
          </a:xfrm>
        </p:spPr>
        <p:txBody>
          <a:bodyPr>
            <a:normAutofit/>
          </a:bodyPr>
          <a:lstStyle/>
          <a:p>
            <a:pPr>
              <a:buClr>
                <a:schemeClr val="tx1">
                  <a:lumMod val="95000"/>
                  <a:lumOff val="5000"/>
                </a:schemeClr>
              </a:buClr>
              <a:buSzPct val="110000"/>
            </a:pPr>
            <a:r>
              <a:rPr lang="sk-SK" sz="2000" b="1" dirty="0">
                <a:effectLst>
                  <a:outerShdw blurRad="38100" dist="38100" dir="2700000" algn="tl">
                    <a:srgbClr val="000000">
                      <a:alpha val="43137"/>
                    </a:srgbClr>
                  </a:outerShdw>
                </a:effectLst>
              </a:rPr>
              <a:t>1. </a:t>
            </a:r>
            <a:r>
              <a:rPr lang="sk-SK" sz="2000" dirty="0"/>
              <a:t>Definícia metodiky pre identifikáciu vzorov v časových radoch akciových trhov s dôrazom na metódy umelej inteligencie,</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2. </a:t>
            </a:r>
            <a:r>
              <a:rPr lang="sk-SK" sz="2000" dirty="0"/>
              <a:t>Praktické poznatky o správaní akciových trhov počas období so zvýšeným rizikom, </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3. </a:t>
            </a:r>
            <a:r>
              <a:rPr lang="sk-SK" sz="2000" dirty="0"/>
              <a:t>Komparatívna analýza volatility akciových trhov </a:t>
            </a:r>
            <a:r>
              <a:rPr lang="sk-SK" sz="2000" i="1" dirty="0"/>
              <a:t>USA</a:t>
            </a:r>
            <a:r>
              <a:rPr lang="sk-SK" sz="2000" dirty="0"/>
              <a:t>, </a:t>
            </a:r>
            <a:r>
              <a:rPr lang="sk-SK" sz="2000" i="1" dirty="0"/>
              <a:t>Európy</a:t>
            </a:r>
            <a:r>
              <a:rPr lang="sk-SK" sz="2000" dirty="0"/>
              <a:t> a </a:t>
            </a:r>
            <a:r>
              <a:rPr lang="sk-SK" sz="2000" i="1" dirty="0"/>
              <a:t>Číny</a:t>
            </a:r>
            <a:r>
              <a:rPr lang="sk-SK" sz="2000" dirty="0"/>
              <a:t>,</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4. </a:t>
            </a:r>
            <a:r>
              <a:rPr lang="sk-SK" sz="2000" dirty="0"/>
              <a:t>Identifikácia faktorov, ktoré vplývajú na dynamiku volatility,</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5. </a:t>
            </a:r>
            <a:r>
              <a:rPr lang="sk-SK" sz="2000" dirty="0"/>
              <a:t>Empirické porovnanie modelov strojového a hlbokého učenia s ekonometrickými metódami,</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6. </a:t>
            </a:r>
            <a:r>
              <a:rPr lang="sk-SK" sz="2000" dirty="0"/>
              <a:t>Poznatky o robustnosti definovanej metodiky vzhľadom na zdroj dát akciových indexov.</a:t>
            </a:r>
          </a:p>
        </p:txBody>
      </p:sp>
    </p:spTree>
    <p:extLst>
      <p:ext uri="{BB962C8B-B14F-4D97-AF65-F5344CB8AC3E}">
        <p14:creationId xmlns:p14="http://schemas.microsoft.com/office/powerpoint/2010/main" val="21703576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969CCF5-1DBC-D64F-A418-E0D3525AF05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Hypotézy</a:t>
            </a:r>
          </a:p>
        </p:txBody>
      </p:sp>
      <p:sp>
        <p:nvSpPr>
          <p:cNvPr id="3" name="Zástupný objekt pre obsah 2">
            <a:extLst>
              <a:ext uri="{FF2B5EF4-FFF2-40B4-BE49-F238E27FC236}">
                <a16:creationId xmlns:a16="http://schemas.microsoft.com/office/drawing/2014/main" id="{D299E122-982E-024E-9B3B-050AE20DA6B9}"/>
              </a:ext>
            </a:extLst>
          </p:cNvPr>
          <p:cNvSpPr>
            <a:spLocks noGrp="1"/>
          </p:cNvSpPr>
          <p:nvPr>
            <p:ph idx="1"/>
          </p:nvPr>
        </p:nvSpPr>
        <p:spPr>
          <a:xfrm>
            <a:off x="1115568" y="2478024"/>
            <a:ext cx="10650862" cy="3831336"/>
          </a:xfrm>
        </p:spPr>
        <p:txBody>
          <a:bodyPr>
            <a:normAutofit lnSpcReduction="10000"/>
          </a:bodyPr>
          <a:lstStyle/>
          <a:p>
            <a:r>
              <a:rPr lang="sk-SK" sz="2000" b="1" dirty="0"/>
              <a:t>H1: </a:t>
            </a:r>
            <a:r>
              <a:rPr lang="sk-SK" sz="2000" dirty="0"/>
              <a:t>Obdobie pandémie </a:t>
            </a:r>
            <a:r>
              <a:rPr lang="sk-SK" sz="2000" i="1" dirty="0"/>
              <a:t>COVID-19</a:t>
            </a:r>
            <a:r>
              <a:rPr lang="sk-SK" sz="2000" dirty="0"/>
              <a:t> viedlo k štatisticky významnému zvýšeniu volatility vybraných akciových indexov </a:t>
            </a:r>
            <a:r>
              <a:rPr lang="sk-SK" sz="2000" i="1" dirty="0"/>
              <a:t>USA</a:t>
            </a:r>
            <a:r>
              <a:rPr lang="sk-SK" sz="2000" dirty="0"/>
              <a:t>, </a:t>
            </a:r>
            <a:r>
              <a:rPr lang="sk-SK" sz="2000" i="1" dirty="0"/>
              <a:t>Európy</a:t>
            </a:r>
            <a:r>
              <a:rPr lang="sk-SK" sz="2000" dirty="0"/>
              <a:t> a </a:t>
            </a:r>
            <a:r>
              <a:rPr lang="sk-SK" sz="2000" i="1" dirty="0"/>
              <a:t>Číny</a:t>
            </a:r>
            <a:r>
              <a:rPr lang="sk-SK" sz="2000" dirty="0"/>
              <a:t>.</a:t>
            </a:r>
          </a:p>
          <a:p>
            <a:r>
              <a:rPr lang="sk-SK" sz="2000" b="1" dirty="0">
                <a:effectLst>
                  <a:outerShdw blurRad="38100" dist="38100" dir="2700000" algn="tl">
                    <a:srgbClr val="000000">
                      <a:alpha val="43137"/>
                    </a:srgbClr>
                  </a:outerShdw>
                </a:effectLst>
              </a:rPr>
              <a:t>H2: </a:t>
            </a:r>
            <a:r>
              <a:rPr lang="sk-SK" sz="2000" dirty="0"/>
              <a:t>Dynamika volatility sa medzi vybranými trhmi </a:t>
            </a:r>
            <a:r>
              <a:rPr lang="sk-SK" sz="2000" i="1" dirty="0"/>
              <a:t>USA</a:t>
            </a:r>
            <a:r>
              <a:rPr lang="sk-SK" sz="2000" dirty="0"/>
              <a:t>, </a:t>
            </a:r>
            <a:r>
              <a:rPr lang="sk-SK" sz="2000" i="1" dirty="0"/>
              <a:t>Európy</a:t>
            </a:r>
            <a:r>
              <a:rPr lang="sk-SK" sz="2000" dirty="0"/>
              <a:t> a </a:t>
            </a:r>
            <a:r>
              <a:rPr lang="sk-SK" sz="2000" i="1" dirty="0"/>
              <a:t>Číny</a:t>
            </a:r>
            <a:r>
              <a:rPr lang="sk-SK" sz="2000" dirty="0"/>
              <a:t> štatisticky významne líši.</a:t>
            </a:r>
          </a:p>
          <a:p>
            <a:r>
              <a:rPr lang="sk-SK" sz="2000" b="1" dirty="0">
                <a:effectLst>
                  <a:outerShdw blurRad="38100" dist="38100" dir="2700000" algn="tl">
                    <a:srgbClr val="000000">
                      <a:alpha val="43137"/>
                    </a:srgbClr>
                  </a:outerShdw>
                </a:effectLst>
              </a:rPr>
              <a:t>H3: </a:t>
            </a:r>
            <a:r>
              <a:rPr lang="sk-SK" sz="2000" dirty="0"/>
              <a:t>Asymetrické modely volatility dosahujú lepšiu výkonnosť počas krízových období ako symetrické modely volatility.</a:t>
            </a:r>
          </a:p>
          <a:p>
            <a:r>
              <a:rPr lang="sk-SK" sz="2000" b="1" dirty="0">
                <a:effectLst>
                  <a:outerShdw blurRad="38100" dist="38100" dir="2700000" algn="tl">
                    <a:srgbClr val="000000">
                      <a:alpha val="43137"/>
                    </a:srgbClr>
                  </a:outerShdw>
                </a:effectLst>
              </a:rPr>
              <a:t>H4: </a:t>
            </a:r>
            <a:r>
              <a:rPr lang="sk-SK" sz="2000" dirty="0"/>
              <a:t>Metódy strojového a hlbokého učenia nemajú štatisticky významne vyššiu predikčnú výkonnosť ako vybrané ekonometrické modely volatility.</a:t>
            </a:r>
          </a:p>
          <a:p>
            <a:r>
              <a:rPr lang="sk-SK" sz="2000" b="1" dirty="0">
                <a:effectLst>
                  <a:outerShdw blurRad="38100" dist="38100" dir="2700000" algn="tl">
                    <a:srgbClr val="000000">
                      <a:alpha val="43137"/>
                    </a:srgbClr>
                  </a:outerShdw>
                </a:effectLst>
              </a:rPr>
              <a:t>H5: </a:t>
            </a:r>
            <a:r>
              <a:rPr lang="sk-SK" sz="2000" dirty="0"/>
              <a:t>Identifikované vzory volatility akciových trhov sa pri použití porovnateľných zdrojov dát štatisticky významne nemenia.</a:t>
            </a:r>
          </a:p>
        </p:txBody>
      </p:sp>
    </p:spTree>
    <p:extLst>
      <p:ext uri="{BB962C8B-B14F-4D97-AF65-F5344CB8AC3E}">
        <p14:creationId xmlns:p14="http://schemas.microsoft.com/office/powerpoint/2010/main" val="10872556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EC213164-1120-5EEF-A30F-A0EBF54FF28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Návrh metodológie výskumu</a:t>
            </a:r>
          </a:p>
        </p:txBody>
      </p:sp>
      <p:graphicFrame>
        <p:nvGraphicFramePr>
          <p:cNvPr id="8" name="Zástupný objekt pre obsah 7">
            <a:extLst>
              <a:ext uri="{FF2B5EF4-FFF2-40B4-BE49-F238E27FC236}">
                <a16:creationId xmlns:a16="http://schemas.microsoft.com/office/drawing/2014/main" id="{74CB2277-2A64-6542-6E7C-F87CD325718D}"/>
              </a:ext>
            </a:extLst>
          </p:cNvPr>
          <p:cNvGraphicFramePr>
            <a:graphicFrameLocks noGrp="1"/>
          </p:cNvGraphicFramePr>
          <p:nvPr>
            <p:ph idx="1"/>
            <p:extLst>
              <p:ext uri="{D42A27DB-BD31-4B8C-83A1-F6EECF244321}">
                <p14:modId xmlns:p14="http://schemas.microsoft.com/office/powerpoint/2010/main" val="3087682289"/>
              </p:ext>
            </p:extLst>
          </p:nvPr>
        </p:nvGraphicFramePr>
        <p:xfrm>
          <a:off x="586596" y="2156604"/>
          <a:ext cx="11128076" cy="41527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81028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F0EE83F7-64F3-383A-80FF-8676C5FEF6AE}"/>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Získanie a predspracovanie dát</a:t>
            </a:r>
          </a:p>
        </p:txBody>
      </p:sp>
      <p:sp>
        <p:nvSpPr>
          <p:cNvPr id="3" name="Zástupný objekt pre obsah 2">
            <a:extLst>
              <a:ext uri="{FF2B5EF4-FFF2-40B4-BE49-F238E27FC236}">
                <a16:creationId xmlns:a16="http://schemas.microsoft.com/office/drawing/2014/main" id="{69626B19-36B6-D1C9-00B6-4B1AC05E75D4}"/>
              </a:ext>
            </a:extLst>
          </p:cNvPr>
          <p:cNvSpPr>
            <a:spLocks noGrp="1"/>
          </p:cNvSpPr>
          <p:nvPr>
            <p:ph idx="1"/>
          </p:nvPr>
        </p:nvSpPr>
        <p:spPr/>
        <p:txBody>
          <a:bodyPr>
            <a:normAutofit/>
          </a:bodyPr>
          <a:lstStyle/>
          <a:p>
            <a:pPr marL="0" indent="0">
              <a:buNone/>
            </a:pPr>
            <a:r>
              <a:rPr lang="sk-SK" sz="1900" b="1" dirty="0">
                <a:effectLst>
                  <a:outerShdw blurRad="38100" dist="38100" dir="2700000" algn="tl">
                    <a:srgbClr val="000000">
                      <a:alpha val="43137"/>
                    </a:srgbClr>
                  </a:outerShdw>
                </a:effectLst>
              </a:rPr>
              <a:t>Zdroje dát</a:t>
            </a:r>
          </a:p>
          <a:p>
            <a:r>
              <a:rPr lang="sk-SK" sz="1800" i="1" dirty="0"/>
              <a:t>Stooq.pl</a:t>
            </a:r>
            <a:r>
              <a:rPr lang="sk-SK" sz="1800" dirty="0"/>
              <a:t> a </a:t>
            </a:r>
            <a:r>
              <a:rPr lang="sk-SK" sz="1800" i="1" dirty="0"/>
              <a:t>Yahoo </a:t>
            </a:r>
            <a:r>
              <a:rPr lang="sk-SK" sz="1800" i="1" dirty="0" err="1"/>
              <a:t>Finance</a:t>
            </a:r>
            <a:r>
              <a:rPr lang="sk-SK" sz="1800" dirty="0"/>
              <a:t>.</a:t>
            </a:r>
          </a:p>
          <a:p>
            <a:pPr marL="0" indent="0">
              <a:buNone/>
            </a:pPr>
            <a:r>
              <a:rPr lang="sk-SK" sz="1800" b="1" dirty="0">
                <a:effectLst>
                  <a:outerShdw blurRad="38100" dist="38100" dir="2700000" algn="tl">
                    <a:srgbClr val="000000">
                      <a:alpha val="43137"/>
                    </a:srgbClr>
                  </a:outerShdw>
                </a:effectLst>
              </a:rPr>
              <a:t>Vybrané akciové indexy</a:t>
            </a:r>
            <a:endParaRPr lang="sk-SK" sz="1800" dirty="0">
              <a:effectLst>
                <a:outerShdw blurRad="38100" dist="38100" dir="2700000" algn="tl">
                  <a:srgbClr val="000000">
                    <a:alpha val="43137"/>
                  </a:srgbClr>
                </a:outerShdw>
              </a:effectLst>
            </a:endParaRPr>
          </a:p>
          <a:p>
            <a:r>
              <a:rPr lang="sk-SK" sz="1800" dirty="0"/>
              <a:t>Indexy top </a:t>
            </a:r>
            <a:r>
              <a:rPr lang="sk-SK" sz="1800" i="1" dirty="0"/>
              <a:t>30</a:t>
            </a:r>
            <a:r>
              <a:rPr lang="sk-SK" sz="1800" dirty="0"/>
              <a:t> firiem pre daný trh.</a:t>
            </a:r>
          </a:p>
          <a:p>
            <a:pPr marL="0" indent="0">
              <a:buNone/>
            </a:pPr>
            <a:r>
              <a:rPr lang="sk-SK" sz="1800" b="1" dirty="0">
                <a:effectLst>
                  <a:outerShdw blurRad="38100" dist="38100" dir="2700000" algn="tl">
                    <a:srgbClr val="000000">
                      <a:alpha val="43137"/>
                    </a:srgbClr>
                  </a:outerShdw>
                </a:effectLst>
              </a:rPr>
              <a:t>Rozdelenie dát</a:t>
            </a:r>
          </a:p>
          <a:p>
            <a:pPr lvl="0"/>
            <a:r>
              <a:rPr lang="sk-SK" sz="1800" dirty="0"/>
              <a:t>Obdobie pred pandémiou (</a:t>
            </a:r>
            <a:r>
              <a:rPr lang="sk-SK" sz="1800" i="1" dirty="0"/>
              <a:t>2016-2019</a:t>
            </a:r>
            <a:r>
              <a:rPr lang="sk-SK" sz="1800" dirty="0"/>
              <a:t>),</a:t>
            </a:r>
          </a:p>
          <a:p>
            <a:pPr lvl="0"/>
            <a:r>
              <a:rPr lang="sk-SK" sz="1800" dirty="0"/>
              <a:t>Obdobie </a:t>
            </a:r>
            <a:r>
              <a:rPr lang="sk-SK" sz="1800" i="1" dirty="0"/>
              <a:t>COVID-19</a:t>
            </a:r>
            <a:r>
              <a:rPr lang="sk-SK" sz="1800" dirty="0"/>
              <a:t> (</a:t>
            </a:r>
            <a:r>
              <a:rPr lang="sk-SK" sz="1800" i="1" dirty="0"/>
              <a:t>2020-2022</a:t>
            </a:r>
            <a:r>
              <a:rPr lang="sk-SK" sz="1800" dirty="0"/>
              <a:t>),</a:t>
            </a:r>
          </a:p>
          <a:p>
            <a:pPr lvl="0"/>
            <a:r>
              <a:rPr lang="sk-SK" sz="1800" dirty="0" err="1"/>
              <a:t>Postpandemické</a:t>
            </a:r>
            <a:r>
              <a:rPr lang="sk-SK" sz="1800" dirty="0"/>
              <a:t> obdobie (</a:t>
            </a:r>
            <a:r>
              <a:rPr lang="sk-SK" sz="1800" i="1" dirty="0"/>
              <a:t>2023-2026</a:t>
            </a:r>
            <a:r>
              <a:rPr lang="sk-SK" sz="1800" dirty="0"/>
              <a:t>).</a:t>
            </a:r>
          </a:p>
          <a:p>
            <a:endParaRPr lang="sk-SK" sz="1900" dirty="0"/>
          </a:p>
          <a:p>
            <a:pPr marL="0" indent="0">
              <a:buNone/>
            </a:pPr>
            <a:endParaRPr lang="sk-SK" sz="1800" dirty="0"/>
          </a:p>
        </p:txBody>
      </p:sp>
      <p:pic>
        <p:nvPicPr>
          <p:cNvPr id="5" name="Obrázok 4">
            <a:extLst>
              <a:ext uri="{FF2B5EF4-FFF2-40B4-BE49-F238E27FC236}">
                <a16:creationId xmlns:a16="http://schemas.microsoft.com/office/drawing/2014/main" id="{E856B261-0408-EC85-F891-513298EDF796}"/>
              </a:ext>
            </a:extLst>
          </p:cNvPr>
          <p:cNvPicPr>
            <a:picLocks noChangeAspect="1"/>
          </p:cNvPicPr>
          <p:nvPr/>
        </p:nvPicPr>
        <p:blipFill>
          <a:blip r:embed="rId3"/>
          <a:stretch>
            <a:fillRect/>
          </a:stretch>
        </p:blipFill>
        <p:spPr>
          <a:xfrm>
            <a:off x="6546570" y="3305182"/>
            <a:ext cx="5001323" cy="1943371"/>
          </a:xfrm>
          <a:prstGeom prst="rect">
            <a:avLst/>
          </a:prstGeom>
          <a:ln>
            <a:noFill/>
          </a:ln>
          <a:effectLst>
            <a:outerShdw blurRad="292100" dist="139700" dir="2700000" algn="tl" rotWithShape="0">
              <a:srgbClr val="333333">
                <a:alpha val="65000"/>
              </a:srgbClr>
            </a:outerShdw>
          </a:effectLst>
        </p:spPr>
      </p:pic>
      <p:sp>
        <p:nvSpPr>
          <p:cNvPr id="6" name="BlokTextu 5">
            <a:extLst>
              <a:ext uri="{FF2B5EF4-FFF2-40B4-BE49-F238E27FC236}">
                <a16:creationId xmlns:a16="http://schemas.microsoft.com/office/drawing/2014/main" id="{3FA578DD-26C9-26FC-9385-A2FFADA90708}"/>
              </a:ext>
            </a:extLst>
          </p:cNvPr>
          <p:cNvSpPr txBox="1"/>
          <p:nvPr/>
        </p:nvSpPr>
        <p:spPr>
          <a:xfrm>
            <a:off x="6546570" y="2935850"/>
            <a:ext cx="4451230" cy="307777"/>
          </a:xfrm>
          <a:prstGeom prst="rect">
            <a:avLst/>
          </a:prstGeom>
          <a:noFill/>
        </p:spPr>
        <p:txBody>
          <a:bodyPr wrap="square" rtlCol="0">
            <a:spAutoFit/>
          </a:bodyPr>
          <a:lstStyle/>
          <a:p>
            <a:r>
              <a:rPr lang="sk-SK" sz="1400" dirty="0"/>
              <a:t>Príklad časového radu </a:t>
            </a:r>
            <a:r>
              <a:rPr lang="en-US" sz="1400" dirty="0"/>
              <a:t>(</a:t>
            </a:r>
            <a:r>
              <a:rPr lang="sk-SK" sz="1400" i="1" dirty="0"/>
              <a:t>Nemecký DAX, Stooq.pl</a:t>
            </a:r>
            <a:r>
              <a:rPr lang="en-US" sz="1400" dirty="0"/>
              <a:t>)</a:t>
            </a:r>
            <a:endParaRPr lang="sk-SK" sz="1400" dirty="0"/>
          </a:p>
        </p:txBody>
      </p:sp>
    </p:spTree>
    <p:extLst>
      <p:ext uri="{BB962C8B-B14F-4D97-AF65-F5344CB8AC3E}">
        <p14:creationId xmlns:p14="http://schemas.microsoft.com/office/powerpoint/2010/main" val="2442349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E15E400A-AACB-763D-21C1-5E373FA7A1E1}"/>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Modelovanie</a:t>
            </a:r>
          </a:p>
        </p:txBody>
      </p:sp>
      <p:sp>
        <p:nvSpPr>
          <p:cNvPr id="3" name="Zástupný objekt pre obsah 2">
            <a:extLst>
              <a:ext uri="{FF2B5EF4-FFF2-40B4-BE49-F238E27FC236}">
                <a16:creationId xmlns:a16="http://schemas.microsoft.com/office/drawing/2014/main" id="{077493ED-6217-122B-0465-474AD139CF8B}"/>
              </a:ext>
            </a:extLst>
          </p:cNvPr>
          <p:cNvSpPr>
            <a:spLocks noGrp="1"/>
          </p:cNvSpPr>
          <p:nvPr>
            <p:ph idx="1"/>
          </p:nvPr>
        </p:nvSpPr>
        <p:spPr/>
        <p:txBody>
          <a:bodyPr>
            <a:normAutofit/>
          </a:bodyPr>
          <a:lstStyle/>
          <a:p>
            <a:pPr marL="0" indent="0">
              <a:buNone/>
            </a:pPr>
            <a:r>
              <a:rPr lang="sk-SK" sz="1800" b="1" dirty="0">
                <a:effectLst>
                  <a:outerShdw blurRad="38100" dist="38100" dir="2700000" algn="tl">
                    <a:srgbClr val="000000">
                      <a:alpha val="43137"/>
                    </a:srgbClr>
                  </a:outerShdw>
                </a:effectLst>
              </a:rPr>
              <a:t>Ekonometrické modely volatility</a:t>
            </a:r>
          </a:p>
          <a:p>
            <a:r>
              <a:rPr lang="sk-SK" sz="1800" dirty="0"/>
              <a:t>GARCH </a:t>
            </a:r>
            <a:r>
              <a:rPr lang="en-GB" sz="1800" dirty="0"/>
              <a:t>(1,1)</a:t>
            </a:r>
            <a:r>
              <a:rPr lang="sk-SK" sz="1800" dirty="0"/>
              <a:t>,</a:t>
            </a:r>
            <a:endParaRPr lang="en-GB" sz="1800" dirty="0"/>
          </a:p>
          <a:p>
            <a:r>
              <a:rPr lang="en-GB" sz="1800" dirty="0"/>
              <a:t>GJR-GARCH</a:t>
            </a:r>
            <a:r>
              <a:rPr lang="sk-SK" sz="1800" dirty="0"/>
              <a:t>,</a:t>
            </a:r>
            <a:endParaRPr lang="en-GB" sz="1800" dirty="0"/>
          </a:p>
          <a:p>
            <a:r>
              <a:rPr lang="sk-SK" sz="1800" dirty="0"/>
              <a:t>Asymetrický </a:t>
            </a:r>
            <a:r>
              <a:rPr lang="en-GB" sz="1800" dirty="0"/>
              <a:t>HAR</a:t>
            </a:r>
            <a:r>
              <a:rPr lang="sk-SK" sz="1800" dirty="0"/>
              <a:t> model.</a:t>
            </a:r>
          </a:p>
          <a:p>
            <a:pPr marL="0" indent="0">
              <a:buNone/>
            </a:pPr>
            <a:r>
              <a:rPr lang="sk-SK" sz="1800" b="1" dirty="0">
                <a:effectLst>
                  <a:outerShdw blurRad="38100" dist="38100" dir="2700000" algn="tl">
                    <a:srgbClr val="000000">
                      <a:alpha val="43137"/>
                    </a:srgbClr>
                  </a:outerShdw>
                </a:effectLst>
              </a:rPr>
              <a:t>Metódy umelej inteligencie</a:t>
            </a:r>
          </a:p>
          <a:p>
            <a:r>
              <a:rPr lang="en-GB" sz="1800" dirty="0" err="1"/>
              <a:t>XGBoost</a:t>
            </a:r>
            <a:r>
              <a:rPr lang="en-GB" sz="1800" dirty="0"/>
              <a:t>,</a:t>
            </a:r>
          </a:p>
          <a:p>
            <a:r>
              <a:rPr lang="en-GB" sz="1800" dirty="0"/>
              <a:t>LSTM</a:t>
            </a:r>
            <a:r>
              <a:rPr lang="sk-SK" sz="1800" dirty="0"/>
              <a:t>.</a:t>
            </a:r>
          </a:p>
          <a:p>
            <a:endParaRPr lang="sk-SK" sz="1800" dirty="0"/>
          </a:p>
        </p:txBody>
      </p:sp>
    </p:spTree>
    <p:extLst>
      <p:ext uri="{BB962C8B-B14F-4D97-AF65-F5344CB8AC3E}">
        <p14:creationId xmlns:p14="http://schemas.microsoft.com/office/powerpoint/2010/main" val="11578659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D317A53-DDDD-3907-2C30-AD0DDB92061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Vyhodnotenie výsledkov</a:t>
            </a:r>
          </a:p>
        </p:txBody>
      </p:sp>
      <p:sp>
        <p:nvSpPr>
          <p:cNvPr id="3" name="Zástupný objekt pre obsah 2">
            <a:extLst>
              <a:ext uri="{FF2B5EF4-FFF2-40B4-BE49-F238E27FC236}">
                <a16:creationId xmlns:a16="http://schemas.microsoft.com/office/drawing/2014/main" id="{85D8F990-BE82-27A7-BC5E-2C3A5A01D293}"/>
              </a:ext>
            </a:extLst>
          </p:cNvPr>
          <p:cNvSpPr>
            <a:spLocks noGrp="1"/>
          </p:cNvSpPr>
          <p:nvPr>
            <p:ph idx="1"/>
          </p:nvPr>
        </p:nvSpPr>
        <p:spPr/>
        <p:txBody>
          <a:bodyPr>
            <a:normAutofit/>
          </a:bodyPr>
          <a:lstStyle/>
          <a:p>
            <a:pPr marL="0" indent="0">
              <a:buNone/>
            </a:pPr>
            <a:r>
              <a:rPr lang="sk-SK" sz="1800" b="1" dirty="0">
                <a:effectLst>
                  <a:outerShdw blurRad="38100" dist="38100" dir="2700000" algn="tl">
                    <a:srgbClr val="000000">
                      <a:alpha val="43137"/>
                    </a:srgbClr>
                  </a:outerShdw>
                </a:effectLst>
              </a:rPr>
              <a:t>Testovanie modelov</a:t>
            </a:r>
          </a:p>
          <a:p>
            <a:r>
              <a:rPr lang="sk-SK" sz="1800" dirty="0"/>
              <a:t>Metriky </a:t>
            </a:r>
            <a:r>
              <a:rPr lang="sk-SK" sz="1800" i="1" dirty="0"/>
              <a:t>RMSE</a:t>
            </a:r>
            <a:r>
              <a:rPr lang="sk-SK" sz="1800" dirty="0"/>
              <a:t> a </a:t>
            </a:r>
            <a:r>
              <a:rPr lang="sk-SK" sz="1800" i="1" dirty="0"/>
              <a:t>QLIKE</a:t>
            </a:r>
            <a:r>
              <a:rPr lang="sk-SK" sz="1800" dirty="0"/>
              <a:t>,</a:t>
            </a:r>
          </a:p>
          <a:p>
            <a:r>
              <a:rPr lang="sk-SK" sz="1800" dirty="0"/>
              <a:t>Porovnanie výsledkov </a:t>
            </a:r>
            <a:r>
              <a:rPr lang="sk-SK" sz="1800" i="1" dirty="0"/>
              <a:t>Stooq.pl</a:t>
            </a:r>
            <a:r>
              <a:rPr lang="sk-SK" sz="1800" dirty="0"/>
              <a:t> a </a:t>
            </a:r>
            <a:r>
              <a:rPr lang="sk-SK" sz="1800" i="1" dirty="0"/>
              <a:t>Yahoo </a:t>
            </a:r>
            <a:r>
              <a:rPr lang="sk-SK" sz="1800" i="1" dirty="0" err="1"/>
              <a:t>Finance</a:t>
            </a:r>
            <a:r>
              <a:rPr lang="sk-SK" sz="1800" dirty="0"/>
              <a:t>.</a:t>
            </a:r>
          </a:p>
          <a:p>
            <a:pPr marL="0" indent="0">
              <a:buNone/>
            </a:pPr>
            <a:r>
              <a:rPr lang="en-US" sz="1800" b="1" dirty="0">
                <a:effectLst>
                  <a:outerShdw blurRad="38100" dist="38100" dir="2700000" algn="tl">
                    <a:srgbClr val="000000">
                      <a:alpha val="43137"/>
                    </a:srgbClr>
                  </a:outerShdw>
                </a:effectLst>
              </a:rPr>
              <a:t>V</a:t>
            </a:r>
            <a:r>
              <a:rPr lang="sk-SK" sz="1800" b="1" dirty="0" err="1">
                <a:effectLst>
                  <a:outerShdw blurRad="38100" dist="38100" dir="2700000" algn="tl">
                    <a:srgbClr val="000000">
                      <a:alpha val="43137"/>
                    </a:srgbClr>
                  </a:outerShdw>
                </a:effectLst>
              </a:rPr>
              <a:t>yhodnotenie</a:t>
            </a:r>
            <a:r>
              <a:rPr lang="sk-SK" sz="1800" b="1" dirty="0">
                <a:effectLst>
                  <a:outerShdw blurRad="38100" dist="38100" dir="2700000" algn="tl">
                    <a:srgbClr val="000000">
                      <a:alpha val="43137"/>
                    </a:srgbClr>
                  </a:outerShdw>
                </a:effectLst>
              </a:rPr>
              <a:t> volatility</a:t>
            </a:r>
          </a:p>
          <a:p>
            <a:r>
              <a:rPr lang="sk-SK" sz="1800" dirty="0"/>
              <a:t>Empirické porovnanie správania volatility trhov,</a:t>
            </a:r>
          </a:p>
          <a:p>
            <a:r>
              <a:rPr lang="sk-SK" sz="1800" dirty="0"/>
              <a:t>Identifikácia vplyvu geopolitických šokov na volatilitu trhov,</a:t>
            </a:r>
          </a:p>
          <a:p>
            <a:r>
              <a:rPr lang="sk-SK" sz="1800" dirty="0"/>
              <a:t>Identifikácia faktorov vplývajúcich na dynamiku trhov.</a:t>
            </a:r>
          </a:p>
        </p:txBody>
      </p:sp>
    </p:spTree>
    <p:extLst>
      <p:ext uri="{BB962C8B-B14F-4D97-AF65-F5344CB8AC3E}">
        <p14:creationId xmlns:p14="http://schemas.microsoft.com/office/powerpoint/2010/main" val="1107223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5DC40-1B9C-EF0C-7017-A509948CAC5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9C20C6E-B821-876F-7644-9262D463D1B0}"/>
              </a:ext>
            </a:extLst>
          </p:cNvPr>
          <p:cNvSpPr>
            <a:spLocks noGrp="1"/>
          </p:cNvSpPr>
          <p:nvPr>
            <p:ph type="ctrTitle"/>
          </p:nvPr>
        </p:nvSpPr>
        <p:spPr>
          <a:xfrm>
            <a:off x="576072" y="1124712"/>
            <a:ext cx="11036808" cy="3386903"/>
          </a:xfrm>
        </p:spPr>
        <p:txBody>
          <a:bodyPr>
            <a:noAutofit/>
          </a:bodyPr>
          <a:lstStyle/>
          <a:p>
            <a:pPr algn="ctr"/>
            <a:r>
              <a:rPr lang="sk-SK" sz="4400" b="1" dirty="0">
                <a:effectLst>
                  <a:outerShdw blurRad="38100" dist="38100" dir="2700000" algn="tl">
                    <a:srgbClr val="000000">
                      <a:alpha val="43137"/>
                    </a:srgbClr>
                  </a:outerShdw>
                </a:effectLst>
              </a:rPr>
              <a:t>Ďakujem za pozornosť</a:t>
            </a:r>
            <a:endParaRPr lang="sk-SK" sz="44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55612937"/>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ppt/theme/theme2.xml><?xml version="1.0" encoding="utf-8"?>
<a:theme xmlns:a="http://schemas.openxmlformats.org/drawingml/2006/main" name="Motív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Zvýrazňujúce pole</Template>
  <TotalTime>499</TotalTime>
  <Words>1031</Words>
  <Application>Microsoft Office PowerPoint</Application>
  <PresentationFormat>Širokouhlá</PresentationFormat>
  <Paragraphs>119</Paragraphs>
  <Slides>9</Slides>
  <Notes>8</Notes>
  <HiddenSlides>0</HiddenSlides>
  <MMClips>0</MMClips>
  <ScaleCrop>false</ScaleCrop>
  <HeadingPairs>
    <vt:vector size="6" baseType="variant">
      <vt:variant>
        <vt:lpstr>Použité písma</vt:lpstr>
      </vt:variant>
      <vt:variant>
        <vt:i4>4</vt:i4>
      </vt:variant>
      <vt:variant>
        <vt:lpstr>Motív</vt:lpstr>
      </vt:variant>
      <vt:variant>
        <vt:i4>1</vt:i4>
      </vt:variant>
      <vt:variant>
        <vt:lpstr>Nadpisy snímok</vt:lpstr>
      </vt:variant>
      <vt:variant>
        <vt:i4>9</vt:i4>
      </vt:variant>
    </vt:vector>
  </HeadingPairs>
  <TitlesOfParts>
    <vt:vector size="14" baseType="lpstr">
      <vt:lpstr>Aptos</vt:lpstr>
      <vt:lpstr>Arial</vt:lpstr>
      <vt:lpstr>Avenir Next LT Pro</vt:lpstr>
      <vt:lpstr>Calibri</vt:lpstr>
      <vt:lpstr>AccentBoxVTI</vt:lpstr>
      <vt:lpstr>Identifikácia vzorov v časových radoch pre komparáciu volatility akciových trhov USA, Číny a Európy pomocou metód umelej inteligencie</vt:lpstr>
      <vt:lpstr>Ciele výskumu</vt:lpstr>
      <vt:lpstr>Očakávané prínosy výskumu</vt:lpstr>
      <vt:lpstr>Hypotézy</vt:lpstr>
      <vt:lpstr>Návrh metodológie výskumu</vt:lpstr>
      <vt:lpstr>Získanie a predspracovanie dát</vt:lpstr>
      <vt:lpstr>Modelovanie</vt:lpstr>
      <vt:lpstr>Vyhodnotenie výsledkov</vt:lpstr>
      <vt:lpstr>Ďakujem za pozornosť</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Matej Lužák</dc:creator>
  <cp:lastModifiedBy>Matej Lužák</cp:lastModifiedBy>
  <cp:revision>53</cp:revision>
  <dcterms:created xsi:type="dcterms:W3CDTF">2026-06-01T16:03:27Z</dcterms:created>
  <dcterms:modified xsi:type="dcterms:W3CDTF">2026-06-25T14:06:06Z</dcterms:modified>
</cp:coreProperties>
</file>