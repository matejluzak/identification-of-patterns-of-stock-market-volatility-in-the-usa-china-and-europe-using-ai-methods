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/>
              <a:t>Identifikácia vzorov v časových radoch pre komparáciu volatility akciových trhov USA, Číny a Európy pomocou metód umelej inteligencie</a:t>
            </a:r>
            <a:endParaRPr lang="sk-SK" sz="32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Ciele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86000"/>
            <a:ext cx="1016812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Hlavný cieľ</a:t>
            </a:r>
          </a:p>
          <a:p>
            <a:r>
              <a:rPr lang="sk-SK" sz="1800" dirty="0"/>
              <a:t>Analyzovať a porovnať volatilitu akciových trhov v USA, Číne a Európe v období pred pandémiou COVID-19,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/>
              <a:t>Čiastkové ciele</a:t>
            </a:r>
          </a:p>
          <a:p>
            <a:r>
              <a:rPr lang="sk-SK" sz="1800" dirty="0"/>
              <a:t>Získať vhodné časové rady akciových trhov USA, Európy a Číny,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ekonometrické modely a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b="1" dirty="0"/>
              <a:t>H1: </a:t>
            </a:r>
            <a:r>
              <a:rPr lang="sk-SK" sz="1800" dirty="0"/>
              <a:t>Obdobie pandémie COVID-19 viedlo k štatisticky významnému zvýšeniu volatility vybraných akciových indexov USA, Európy a Číny.</a:t>
            </a:r>
          </a:p>
          <a:p>
            <a:r>
              <a:rPr lang="sk-SK" sz="1800" b="1" dirty="0"/>
              <a:t>H2: </a:t>
            </a:r>
            <a:r>
              <a:rPr lang="sk-SK" sz="1800" dirty="0"/>
              <a:t>Dynamika volatility sa medzi vybranými trhmi USA, Európy a Číny štatisticky významne líši.</a:t>
            </a:r>
          </a:p>
          <a:p>
            <a:r>
              <a:rPr lang="sk-SK" sz="1800" b="1" dirty="0"/>
              <a:t>H3: </a:t>
            </a:r>
            <a:r>
              <a:rPr lang="sk-SK" sz="1800" dirty="0"/>
              <a:t>Asymetrické modely volatility dosahujú lepšiu výkonnosť počas krízových období ako symetrické modely volatility.</a:t>
            </a:r>
          </a:p>
          <a:p>
            <a:r>
              <a:rPr lang="sk-SK" sz="1800" b="1" dirty="0"/>
              <a:t>H4: </a:t>
            </a:r>
            <a:r>
              <a:rPr lang="sk-SK" sz="18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1800" b="1" dirty="0"/>
              <a:t>H5: </a:t>
            </a:r>
            <a:r>
              <a:rPr lang="sk-SK" sz="18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Očakávané prínosy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284421"/>
          </a:xfrm>
        </p:spPr>
        <p:txBody>
          <a:bodyPr/>
          <a:lstStyle/>
          <a:p>
            <a:r>
              <a:rPr lang="sk-SK" sz="1800" dirty="0"/>
              <a:t>Empirické porovnanie modelov strojového učenia s ekonometrickými riešeniami,</a:t>
            </a:r>
          </a:p>
          <a:p>
            <a:r>
              <a:rPr lang="sk-SK" sz="1800" dirty="0"/>
              <a:t>Praktické poznatky o správaní akciových trhov počas období so zvýšeným rizikom </a:t>
            </a:r>
            <a:r>
              <a:rPr lang="en-GB" sz="1800" dirty="0"/>
              <a:t>(COVID-19)</a:t>
            </a:r>
            <a:r>
              <a:rPr lang="sk-SK" sz="1800" dirty="0"/>
              <a:t>,</a:t>
            </a:r>
          </a:p>
          <a:p>
            <a:r>
              <a:rPr lang="sk-SK" sz="1800" dirty="0"/>
              <a:t>Komparatívna analýza volatility akciových trhov USA, Európy a Číny,</a:t>
            </a:r>
          </a:p>
          <a:p>
            <a:r>
              <a:rPr lang="sk-SK" sz="1800" dirty="0"/>
              <a:t>Identifikácia faktorov, ktoré vplývajú na dynamiku volatility,</a:t>
            </a:r>
          </a:p>
          <a:p>
            <a:r>
              <a:rPr lang="sk-SK" sz="1800" dirty="0"/>
              <a:t>Definícia metodiky pre identifikáciu vzorov v časových radoch akciových trhov s dôrazom na metódy umelej inteligencie,</a:t>
            </a:r>
          </a:p>
          <a:p>
            <a:r>
              <a:rPr lang="sk-SK" sz="1800" dirty="0"/>
              <a:t>Poznatky o robustnosti definovanej metodiky vzhľadom na zdroj dát akciových indexov.</a:t>
            </a:r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Návrh metodológie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57EBD8-C4CD-26FC-663A-384167972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Príprava dát</a:t>
            </a:r>
          </a:p>
          <a:p>
            <a:r>
              <a:rPr lang="sk-SK" sz="1800" dirty="0"/>
              <a:t>Získanie a predspracovanie dát,</a:t>
            </a:r>
          </a:p>
          <a:p>
            <a:pPr marL="0" indent="0">
              <a:buNone/>
            </a:pPr>
            <a:r>
              <a:rPr lang="sk-SK" sz="1800" b="1" dirty="0"/>
              <a:t>Modelovanie</a:t>
            </a:r>
          </a:p>
          <a:p>
            <a:r>
              <a:rPr lang="sk-SK" sz="1800" dirty="0"/>
              <a:t>Ekonometrické modely volatility,</a:t>
            </a:r>
          </a:p>
          <a:p>
            <a:r>
              <a:rPr lang="sk-SK" sz="1800" dirty="0"/>
              <a:t>Modely strojového učenia,</a:t>
            </a:r>
          </a:p>
          <a:p>
            <a:pPr marL="0" indent="0">
              <a:buNone/>
            </a:pPr>
            <a:r>
              <a:rPr lang="sk-SK" sz="1800" b="1" dirty="0"/>
              <a:t>Testovanie</a:t>
            </a:r>
          </a:p>
          <a:p>
            <a:r>
              <a:rPr lang="sk-SK" sz="1800" dirty="0"/>
              <a:t>Vyhodnotenie a porovnanie výsledkov odlišných zdrojov dát</a:t>
            </a:r>
          </a:p>
          <a:p>
            <a:pPr marL="0" indent="0">
              <a:buNone/>
            </a:pP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900" b="1" dirty="0"/>
              <a:t>Zdroje dát</a:t>
            </a:r>
          </a:p>
          <a:p>
            <a:r>
              <a:rPr lang="sk-SK" sz="1800" dirty="0"/>
              <a:t>Stooq.pl a Yahoo </a:t>
            </a:r>
            <a:r>
              <a:rPr lang="sk-SK" sz="1800" dirty="0" err="1"/>
              <a:t>Finance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/>
              <a:t>Vybrané akciové indexy</a:t>
            </a:r>
            <a:endParaRPr lang="sk-SK" sz="1800" dirty="0"/>
          </a:p>
          <a:p>
            <a:r>
              <a:rPr lang="sk-SK" sz="1800" dirty="0"/>
              <a:t>Indexy top firiem pre daný trh.</a:t>
            </a:r>
          </a:p>
          <a:p>
            <a:pPr marL="0" indent="0">
              <a:buNone/>
            </a:pPr>
            <a:r>
              <a:rPr lang="sk-SK" sz="1800" b="1" dirty="0"/>
              <a:t>Rozdelenie dát</a:t>
            </a:r>
          </a:p>
          <a:p>
            <a:pPr lvl="0"/>
            <a:r>
              <a:rPr lang="sk-SK" sz="1800" dirty="0"/>
              <a:t>Obdobie pred pandémiou (2016-2019),</a:t>
            </a:r>
          </a:p>
          <a:p>
            <a:pPr lvl="0"/>
            <a:r>
              <a:rPr lang="sk-SK" sz="1800" dirty="0"/>
              <a:t>Obdobie COVID-19 (2020-2022),</a:t>
            </a:r>
          </a:p>
          <a:p>
            <a:pPr lvl="0"/>
            <a:r>
              <a:rPr lang="sk-SK" sz="1800" dirty="0" err="1"/>
              <a:t>Postpandemické</a:t>
            </a:r>
            <a:r>
              <a:rPr lang="sk-SK" sz="1800" dirty="0"/>
              <a:t> obdobie (2023-2026).</a:t>
            </a:r>
          </a:p>
          <a:p>
            <a:endParaRPr lang="sk-SK" sz="1900" dirty="0"/>
          </a:p>
          <a:p>
            <a:pPr marL="0" indent="0">
              <a:buNone/>
            </a:pPr>
            <a:endParaRPr lang="sk-SK" sz="1800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E856B261-0408-EC85-F891-513298EDF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570" y="3305182"/>
            <a:ext cx="5001323" cy="1943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BlokTextu 5">
            <a:extLst>
              <a:ext uri="{FF2B5EF4-FFF2-40B4-BE49-F238E27FC236}">
                <a16:creationId xmlns:a16="http://schemas.microsoft.com/office/drawing/2014/main" id="{3FA578DD-26C9-26FC-9385-A2FFADA90708}"/>
              </a:ext>
            </a:extLst>
          </p:cNvPr>
          <p:cNvSpPr txBox="1"/>
          <p:nvPr/>
        </p:nvSpPr>
        <p:spPr>
          <a:xfrm>
            <a:off x="6546570" y="2935850"/>
            <a:ext cx="44512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sz="1400" dirty="0"/>
              <a:t>Príklad časového radu </a:t>
            </a:r>
            <a:r>
              <a:rPr lang="en-US" sz="1400" dirty="0"/>
              <a:t>(</a:t>
            </a:r>
            <a:r>
              <a:rPr lang="sk-SK" sz="1400" dirty="0"/>
              <a:t>Nemecký DAX, Stooq.pl</a:t>
            </a:r>
            <a:r>
              <a:rPr lang="en-US" sz="1400" dirty="0"/>
              <a:t>)</a:t>
            </a:r>
            <a:endParaRPr lang="sk-SK" sz="1400" dirty="0"/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Modelovanie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1800" b="1" dirty="0"/>
              <a:t>Ekonometrické modely volatility</a:t>
            </a:r>
          </a:p>
          <a:p>
            <a:r>
              <a:rPr lang="sk-SK" sz="1800" dirty="0"/>
              <a:t>GARCH </a:t>
            </a:r>
            <a:r>
              <a:rPr lang="en-GB" sz="1800" dirty="0"/>
              <a:t>(1,1)</a:t>
            </a:r>
          </a:p>
          <a:p>
            <a:r>
              <a:rPr lang="en-GB" sz="1800" dirty="0"/>
              <a:t>GJR-GARCH</a:t>
            </a:r>
          </a:p>
          <a:p>
            <a:r>
              <a:rPr lang="sk-SK" sz="1800" dirty="0"/>
              <a:t>Asymetrický </a:t>
            </a:r>
            <a:r>
              <a:rPr lang="en-GB" sz="1800" dirty="0"/>
              <a:t>HAR</a:t>
            </a:r>
            <a:r>
              <a:rPr lang="sk-SK" sz="1800"/>
              <a:t> model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Modely strojového učenia</a:t>
            </a:r>
          </a:p>
          <a:p>
            <a:r>
              <a:rPr lang="en-GB" sz="1800" dirty="0" err="1"/>
              <a:t>XGBoost</a:t>
            </a:r>
            <a:r>
              <a:rPr lang="en-GB" sz="1800" dirty="0"/>
              <a:t>,</a:t>
            </a:r>
          </a:p>
          <a:p>
            <a:r>
              <a:rPr lang="en-GB" sz="1800" dirty="0"/>
              <a:t>LSTM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/>
              <a:t>Trénovanie</a:t>
            </a:r>
          </a:p>
          <a:p>
            <a:r>
              <a:rPr lang="sk-SK" sz="1800" dirty="0" err="1"/>
              <a:t>Rolling-window</a:t>
            </a:r>
            <a:r>
              <a:rPr lang="sk-SK" sz="1800" dirty="0"/>
              <a:t> prístup</a:t>
            </a:r>
          </a:p>
          <a:p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Testovanie modelov</a:t>
            </a:r>
          </a:p>
          <a:p>
            <a:r>
              <a:rPr lang="sk-SK" sz="1800" dirty="0"/>
              <a:t>Metriky RMSE a QLIKE,</a:t>
            </a:r>
          </a:p>
          <a:p>
            <a:r>
              <a:rPr lang="sk-SK" sz="1800" dirty="0"/>
              <a:t>Porovnanie výsledkov Stooq.pl a Yahoo </a:t>
            </a:r>
            <a:r>
              <a:rPr lang="sk-SK" sz="1800" dirty="0" err="1"/>
              <a:t>Finance</a:t>
            </a:r>
            <a:r>
              <a:rPr lang="en-US" sz="1800" dirty="0"/>
              <a:t>,</a:t>
            </a:r>
            <a:endParaRPr lang="sk-SK" sz="1800" dirty="0"/>
          </a:p>
          <a:p>
            <a:pPr marL="0" indent="0">
              <a:buNone/>
            </a:pPr>
            <a:r>
              <a:rPr lang="en-US" sz="1800" b="1" dirty="0"/>
              <a:t>V</a:t>
            </a:r>
            <a:r>
              <a:rPr lang="sk-SK" sz="1800" b="1" dirty="0" err="1"/>
              <a:t>yhodnotenie</a:t>
            </a:r>
            <a:r>
              <a:rPr lang="sk-SK" sz="1800" b="1" dirty="0"/>
              <a:t> volatility</a:t>
            </a:r>
          </a:p>
          <a:p>
            <a:r>
              <a:rPr lang="sk-SK" sz="1800" dirty="0"/>
              <a:t>Empirické porovnanie správania volatility trhov,</a:t>
            </a:r>
          </a:p>
          <a:p>
            <a:r>
              <a:rPr lang="sk-SK" sz="1800" dirty="0"/>
              <a:t>Identifikácia vplyvu geopolitických šokov na volatilitu trhov,</a:t>
            </a:r>
          </a:p>
          <a:p>
            <a:r>
              <a:rPr lang="sk-SK" sz="1800" dirty="0"/>
              <a:t>Identifikácia faktorov vplývajúcich na volatilitu trhov.</a:t>
            </a:r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/>
              <a:t>Ďakujem za pozornosť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332</TotalTime>
  <Words>428</Words>
  <Application>Microsoft Office PowerPoint</Application>
  <PresentationFormat>Širokouhlá</PresentationFormat>
  <Paragraphs>63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výskumu</vt:lpstr>
      <vt:lpstr>Hypotézy</vt:lpstr>
      <vt:lpstr>Očakávané prínosy výskumu</vt:lpstr>
      <vt:lpstr>Návrh metodológie výskumu</vt:lpstr>
      <vt:lpstr>Získanie a predspracovanie dát</vt:lpstr>
      <vt:lpstr>Modelovanie</vt:lpstr>
      <vt:lpstr>Vyhodnotenie výsledkov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26</cp:revision>
  <dcterms:created xsi:type="dcterms:W3CDTF">2026-06-01T16:03:27Z</dcterms:created>
  <dcterms:modified xsi:type="dcterms:W3CDTF">2026-06-04T10:51:02Z</dcterms:modified>
</cp:coreProperties>
</file>